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147481782" r:id="rId5"/>
    <p:sldId id="2147481986" r:id="rId6"/>
    <p:sldId id="2147482191" r:id="rId7"/>
    <p:sldId id="2147482397" r:id="rId8"/>
    <p:sldId id="2147481572" r:id="rId9"/>
    <p:sldId id="2147481573" r:id="rId10"/>
    <p:sldId id="2147481574" r:id="rId11"/>
    <p:sldId id="2147481575" r:id="rId12"/>
    <p:sldId id="2147481576" r:id="rId13"/>
    <p:sldId id="2147481577" r:id="rId14"/>
    <p:sldId id="2147481578" r:id="rId15"/>
    <p:sldId id="2147481579" r:id="rId16"/>
    <p:sldId id="2147481580" r:id="rId17"/>
    <p:sldId id="2147481581" r:id="rId18"/>
    <p:sldId id="2147482604" r:id="rId19"/>
    <p:sldId id="2147481571" r:id="rId20"/>
    <p:sldId id="2147481569" r:id="rId21"/>
    <p:sldId id="21474815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 5 Use Cases" id="{584B8547-F643-4162-A321-3E4439AAE2EA}">
          <p14:sldIdLst>
            <p14:sldId id="2147481782"/>
            <p14:sldId id="2147481986"/>
            <p14:sldId id="2147482191"/>
            <p14:sldId id="2147482397"/>
            <p14:sldId id="2147481572"/>
            <p14:sldId id="2147481573"/>
            <p14:sldId id="2147481574"/>
            <p14:sldId id="2147481575"/>
            <p14:sldId id="2147481576"/>
            <p14:sldId id="2147481577"/>
            <p14:sldId id="2147481578"/>
            <p14:sldId id="2147481579"/>
            <p14:sldId id="2147481580"/>
            <p14:sldId id="2147481581"/>
            <p14:sldId id="2147482604"/>
            <p14:sldId id="2147481571"/>
            <p14:sldId id="2147481569"/>
            <p14:sldId id="2147481570"/>
          </p14:sldIdLst>
        </p14:section>
        <p14:section name="Prioritization Matrix" id="{9A7868AF-D2A0-4851-8D04-131E01BFFEFA}">
          <p14:sldIdLst/>
        </p14:section>
        <p14:section name="Next steps" id="{85985F91-9B51-4DE3-936F-789A1943FA2F}">
          <p14:sldIdLst/>
        </p14:section>
        <p14:section name="Parking lot" id="{13557BBD-ECCD-4B73-99A2-53D17AE54F12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B4F9A2-3352-F0DE-02D2-B2FCD61CD2AB}" name="Myriam Broeders" initials="MB" userId="S::mybroe@microsoft.com::60247533-c2a4-41c4-87cf-d29f7c97f5da" providerId="AD"/>
  <p188:author id="{51ADBFA5-42A9-1CE0-A294-691B8A2DE801}" name="Lionel Gourvitch" initials="" userId="S::ligourvi@microsoft.com::38deb1d5-41a6-4b09-bdd5-b1daeb4c4588" providerId="AD"/>
  <p188:author id="{F91971A9-998D-AC8C-2953-59FA431CDFB9}" name="Powlo (Innovation Hub)" initials="P(" userId="S::probins@microsoft.com::610676ab-f528-44b1-910b-083eb89bd94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E970"/>
    <a:srgbClr val="000000"/>
    <a:srgbClr val="FFA38B"/>
    <a:srgbClr val="C03BC4"/>
    <a:srgbClr val="225B62"/>
    <a:srgbClr val="FFF8F3"/>
    <a:srgbClr val="D7D2CB"/>
    <a:srgbClr val="E8E6DF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4FCF8-D44E-40AC-B445-3FA382DF2465}" v="10" dt="2026-10-28T01:17:28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B04FCF8-D44E-40AC-B445-3FA382DF2465}"/>
    <pc:docChg chg="addSld delSld modSld sldOrd modSection">
      <pc:chgData name="" userId="" providerId="" clId="Web-{2B04FCF8-D44E-40AC-B445-3FA382DF2465}" dt="2026-10-28T01:17:28.909" v="19" actId="34807"/>
      <pc:docMkLst>
        <pc:docMk/>
      </pc:docMkLst>
      <pc:sldChg chg="modSp del ord">
        <pc:chgData name="" userId="" providerId="" clId="Web-{2B04FCF8-D44E-40AC-B445-3FA382DF2465}" dt="2026-10-28T01:05:17.106" v="3" actId="34807"/>
        <pc:sldMkLst>
          <pc:docMk/>
          <pc:sldMk cId="38086701" sldId="2147481568"/>
        </pc:sldMkLst>
        <pc:spChg chg="mod">
          <ac:chgData name="" userId="" providerId="" clId="Web-{2B04FCF8-D44E-40AC-B445-3FA382DF2465}" dt="2026-10-28T01:05:00.137" v="1" actId="34807"/>
          <ac:spMkLst>
            <pc:docMk/>
            <pc:sldMk cId="38086701" sldId="2147481568"/>
            <ac:spMk id="20" creationId="{86E688F3-D806-8318-B0F9-7A31C23C41A7}"/>
          </ac:spMkLst>
        </pc:spChg>
      </pc:sldChg>
      <pc:sldChg chg="addSp delSp modSp ord">
        <pc:chgData name="" userId="" providerId="" clId="Web-{2B04FCF8-D44E-40AC-B445-3FA382DF2465}" dt="2026-10-28T01:17:28.909" v="19" actId="34807"/>
        <pc:sldMkLst>
          <pc:docMk/>
          <pc:sldMk cId="3286054392" sldId="2147481569"/>
        </pc:sldMkLst>
        <pc:spChg chg="add mod">
          <ac:chgData name="" userId="" providerId="" clId="Web-{2B04FCF8-D44E-40AC-B445-3FA382DF2465}" dt="2026-10-28T01:13:43.094" v="10" actId="34807"/>
          <ac:spMkLst>
            <pc:docMk/>
            <pc:sldMk cId="3286054392" sldId="2147481569"/>
            <ac:spMk id="11156" creationId="{44F2C1EA-78B9-D347-834C-D499BA3AC0D8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86054392" sldId="2147481569"/>
            <ac:spMk id="11509" creationId="{F5539D8D-68C5-58AF-C702-7B747047E722}"/>
          </ac:spMkLst>
        </pc:spChg>
        <pc:spChg chg="add del mod">
          <ac:chgData name="" userId="" providerId="" clId="Web-{2B04FCF8-D44E-40AC-B445-3FA382DF2465}" dt="2026-10-28T01:17:27.721" v="18" actId="34807"/>
          <ac:spMkLst>
            <pc:docMk/>
            <pc:sldMk cId="3286054392" sldId="2147481569"/>
            <ac:spMk id="11535" creationId="{23D2A350-B1E0-2E0A-9A11-10769E05854F}"/>
          </ac:spMkLst>
        </pc:spChg>
        <pc:spChg chg="add mod">
          <ac:chgData name="" userId="" providerId="" clId="Web-{2B04FCF8-D44E-40AC-B445-3FA382DF2465}" dt="2026-10-28T01:17:28.909" v="19" actId="34807"/>
          <ac:spMkLst>
            <pc:docMk/>
            <pc:sldMk cId="3286054392" sldId="2147481569"/>
            <ac:spMk id="11601" creationId="{FB9E189F-B927-5640-9F31-313EA1A18E29}"/>
          </ac:spMkLst>
        </pc:spChg>
        <pc:graphicFrameChg chg="del">
          <ac:chgData name="" userId="" providerId="" clId="Web-{2B04FCF8-D44E-40AC-B445-3FA382DF2465}" dt="2026-10-28T01:13:45.423" v="12" actId="34807"/>
          <ac:graphicFrameMkLst>
            <pc:docMk/>
            <pc:sldMk cId="3286054392" sldId="2147481569"/>
            <ac:graphicFrameMk id="2" creationId="{5F322DF6-4F54-8DC1-8A7B-5315654F8C09}"/>
          </ac:graphicFrameMkLst>
        </pc:graphicFrameChg>
        <pc:graphicFrameChg chg="add del mod">
          <ac:chgData name="" userId="" providerId="" clId="Web-{2B04FCF8-D44E-40AC-B445-3FA382DF2465}" dt="2026-10-28T01:16:06.205" v="16" actId="34807"/>
          <ac:graphicFrameMkLst>
            <pc:docMk/>
            <pc:sldMk cId="3286054392" sldId="2147481569"/>
            <ac:graphicFrameMk id="5" creationId="{E9050117-72CE-4737-B53C-EE042F9727D7}"/>
          </ac:graphicFrameMkLst>
        </pc:graphicFrameChg>
        <pc:graphicFrameChg chg="add mod">
          <ac:chgData name="" userId="" providerId="" clId="Web-{2B04FCF8-D44E-40AC-B445-3FA382DF2465}" dt="2026-10-28T01:16:01.658" v="14" actId="34807"/>
          <ac:graphicFrameMkLst>
            <pc:docMk/>
            <pc:sldMk cId="3286054392" sldId="2147481569"/>
            <ac:graphicFrameMk id="6" creationId="{358EBA0E-8256-4231-B58C-018B7356914C}"/>
          </ac:graphicFrameMkLst>
        </pc:graphicFrameChg>
      </pc:sldChg>
      <pc:sldChg chg="addSp delSp modSp ord">
        <pc:chgData name="" userId="" providerId="" clId="Web-{2B04FCF8-D44E-40AC-B445-3FA382DF2465}" dt="2026-10-28T01:16:01.658" v="14" actId="34807"/>
        <pc:sldMkLst>
          <pc:docMk/>
          <pc:sldMk cId="550141689" sldId="2147481570"/>
        </pc:sldMkLst>
        <pc:spChg chg="add mod">
          <ac:chgData name="" userId="" providerId="" clId="Web-{2B04FCF8-D44E-40AC-B445-3FA382DF2465}" dt="2026-10-28T01:13:43.094" v="10" actId="34807"/>
          <ac:spMkLst>
            <pc:docMk/>
            <pc:sldMk cId="550141689" sldId="2147481570"/>
            <ac:spMk id="11232" creationId="{05490699-9BA8-9FFF-CBC7-EFFADB17EC5F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550141689" sldId="2147481570"/>
            <ac:spMk id="11562" creationId="{FE075563-6863-6D94-E36A-171311546214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550141689" sldId="2147481570"/>
            <ac:spMk id="11590" creationId="{FB319472-A0CB-2954-4FC5-D00816418B4D}"/>
          </ac:spMkLst>
        </pc:spChg>
        <pc:graphicFrameChg chg="del">
          <ac:chgData name="" userId="" providerId="" clId="Web-{2B04FCF8-D44E-40AC-B445-3FA382DF2465}" dt="2026-10-28T01:13:45.423" v="12" actId="34807"/>
          <ac:graphicFrameMkLst>
            <pc:docMk/>
            <pc:sldMk cId="550141689" sldId="2147481570"/>
            <ac:graphicFrameMk id="2" creationId="{A3A5A35F-4795-3F01-3994-A642EC037FB2}"/>
          </ac:graphicFrameMkLst>
        </pc:graphicFrameChg>
        <pc:graphicFrameChg chg="add mod">
          <ac:chgData name="" userId="" providerId="" clId="Web-{2B04FCF8-D44E-40AC-B445-3FA382DF2465}" dt="2026-10-28T01:13:43.094" v="10" actId="34807"/>
          <ac:graphicFrameMkLst>
            <pc:docMk/>
            <pc:sldMk cId="550141689" sldId="2147481570"/>
            <ac:graphicFrameMk id="5" creationId="{0BF3EADB-4B39-400F-BA53-98515569BEEC}"/>
          </ac:graphicFrameMkLst>
        </pc:graphicFrameChg>
      </pc:sldChg>
      <pc:sldChg chg="addSp modSp ord modNotesTx">
        <pc:chgData name="" userId="" providerId="" clId="Web-{2B04FCF8-D44E-40AC-B445-3FA382DF2465}" dt="2026-10-28T01:13:45.423" v="12" actId="34807"/>
        <pc:sldMkLst>
          <pc:docMk/>
          <pc:sldMk cId="1628170756" sldId="2147481571"/>
        </pc:sldMkLst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4" creationId="{E77A8428-413C-6FA6-B13D-2EBA75D363F8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6" creationId="{FFC8F9C8-50E6-07FC-0242-C3483751CE9C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8" creationId="{D0E87C46-DDF1-D7C9-FC25-A70FA6CDB1DF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10" creationId="{E66872D9-9EDB-B00D-0359-6C87E9625B89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12" creationId="{D0D5C915-A465-AAE6-CAE3-53813EDBB1D0}"/>
          </ac:spMkLst>
        </pc:spChg>
        <pc:spChg chg="mod">
          <ac:chgData name="" userId="" providerId="" clId="Web-{2B04FCF8-D44E-40AC-B445-3FA382DF2465}" dt="2026-10-28T01:05:00.137" v="1" actId="34807"/>
          <ac:spMkLst>
            <pc:docMk/>
            <pc:sldMk cId="1628170756" sldId="2147481571"/>
            <ac:spMk id="20" creationId="{6D2E687D-4E98-79E8-3EF7-2F58E498E24C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59" creationId="{B0D5A04A-AC98-5F07-1A4C-880D1701AA57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60" creationId="{81CEBA83-18D8-CCA8-5639-A7E5B99B23C7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61" creationId="{30E063E2-0D6E-640B-0080-659EB1AE7E06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62" creationId="{177D7567-39C7-A63E-A950-9C46F638E988}"/>
          </ac:spMkLst>
        </pc:spChg>
        <pc:spChg chg="mod">
          <ac:chgData name="" userId="" providerId="" clId="Web-{2B04FCF8-D44E-40AC-B445-3FA382DF2465}" dt="2026-10-28T01:13:45.423" v="12" actId="34807"/>
          <ac:spMkLst>
            <pc:docMk/>
            <pc:sldMk cId="1628170756" sldId="2147481571"/>
            <ac:spMk id="63" creationId="{04626665-F7F4-8F9E-8949-912797306BFC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1628170756" sldId="2147481571"/>
            <ac:spMk id="11082" creationId="{FF6C5E90-D5EA-D0E9-F40B-310346590BBD}"/>
          </ac:spMkLst>
        </pc:spChg>
      </pc:sldChg>
      <pc:sldChg chg="addSp delSp modSp ord">
        <pc:chgData name="" userId="" providerId="" clId="Web-{2B04FCF8-D44E-40AC-B445-3FA382DF2465}" dt="2026-10-28T01:09:18.530" v="5" actId="34807"/>
        <pc:sldMkLst>
          <pc:docMk/>
          <pc:sldMk cId="541153904" sldId="2147481572"/>
        </pc:sldMkLst>
        <pc:spChg chg="mod">
          <ac:chgData name="" userId="" providerId="" clId="Web-{2B04FCF8-D44E-40AC-B445-3FA382DF2465}" dt="2026-10-28T01:09:18.530" v="5" actId="34807"/>
          <ac:spMkLst>
            <pc:docMk/>
            <pc:sldMk cId="541153904" sldId="2147481572"/>
            <ac:spMk id="21" creationId="{8A1D9F9D-9AD0-D527-110F-8427FDBC8B16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541153904" sldId="2147481572"/>
            <ac:spMk id="24" creationId="{ECACBD61-E553-B037-6F89-BDA71A301B42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541153904" sldId="2147481572"/>
            <ac:spMk id="25" creationId="{9805A405-3139-B757-4D7D-921226AA576A}"/>
          </ac:spMkLst>
        </pc:spChg>
        <pc:spChg chg="mod">
          <ac:chgData name="" userId="" providerId="" clId="Web-{2B04FCF8-D44E-40AC-B445-3FA382DF2465}" dt="2026-10-28T01:09:18.530" v="5" actId="34807"/>
          <ac:spMkLst>
            <pc:docMk/>
            <pc:sldMk cId="541153904" sldId="2147481572"/>
            <ac:spMk id="45" creationId="{C34A27BE-53D4-AF0C-AD8B-2969F4EB4BB7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541153904" sldId="2147481572"/>
            <ac:spMk id="64" creationId="{EF93FB3A-E7A2-E412-4369-52DC634ADBAE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541153904" sldId="2147481572"/>
            <ac:spMk id="66" creationId="{C8FBCD4F-6C3B-87EF-DAD0-8DB3DBB6F347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541153904" sldId="2147481572"/>
            <ac:spMk id="69" creationId="{B49C044D-2A6A-9D18-C22E-58151607FDE2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541153904" sldId="2147481572"/>
            <ac:spMk id="73" creationId="{7A0359BF-FEB4-6EE9-11FC-49EC9B6D8926}"/>
          </ac:spMkLst>
        </pc:spChg>
      </pc:sldChg>
      <pc:sldChg chg="addSp delSp modSp ord modNotesTx">
        <pc:chgData name="" userId="" providerId="" clId="Web-{2B04FCF8-D44E-40AC-B445-3FA382DF2465}" dt="2026-10-28T01:16:06.205" v="16" actId="34807"/>
        <pc:sldMkLst>
          <pc:docMk/>
          <pc:sldMk cId="1649195042" sldId="2147481573"/>
        </pc:sldMkLst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14" creationId="{00E65D31-97B8-2ECF-FD82-B6C7A583EBEC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26" creationId="{A0CE6EC5-E9A2-7737-7121-81CC26A38B5E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27" creationId="{0ABE9AF8-1B76-A85D-59CE-FA6B8EB0673D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28" creationId="{2A3327B0-9DF6-1D26-C32F-6DDC959B01F6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29" creationId="{813F0F96-40EF-F75C-BABD-8408E39B570A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30" creationId="{603B6CEB-CAAF-353C-F3B1-CEC76F1CD158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32" creationId="{27CCDB54-C1F4-58C7-EA0F-5F3AE5867198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33" creationId="{E3511621-3E4C-748A-45C6-E7D11BC80210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34" creationId="{79DEF398-83E2-F461-4A4A-60694E25BA70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1649195042" sldId="2147481573"/>
            <ac:spMk id="36" creationId="{5CFEE0A4-CA22-ECB9-A4CB-77E6E213FD91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91" creationId="{EFAC84F5-3AFE-785A-92A9-47D1A9E1A4E4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141" creationId="{DE69584A-A177-2974-242A-926F9CEC29B7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168" creationId="{0F9B746A-403D-4C4F-BF26-1C56B49B4196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253" creationId="{0C3A11AD-DF27-D07D-50EC-4B562686915E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316" creationId="{E2C5CD41-A6A2-0AA8-F5CA-9A58E03DFDF0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339" creationId="{89D69CB5-9B6E-BEF6-CDBB-5E3BD27F36FB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363" creationId="{11B0CA78-F9B3-71CA-FD3C-A4C09D42220A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388" creationId="{08D6F145-D4A3-4C45-932E-EFD1CB436D49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414" creationId="{B4E4230C-7FA2-2107-B448-E409ED70FEB1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441" creationId="{09165D9C-D746-A72D-4A6D-D06E801E1D49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469" creationId="{B594B88E-54EC-40DF-76E5-6B0D27274901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498" creationId="{8E7D6AFB-B365-B1F0-A8F1-E7AC39CDDD00}"/>
          </ac:spMkLst>
        </pc:spChg>
        <pc:spChg chg="del mod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528" creationId="{F261F839-4364-03C4-6730-C431CF20E57A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559" creationId="{908385A2-94CD-7324-4AA9-B6CF9952AD9C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1649195042" sldId="2147481573"/>
            <ac:spMk id="624" creationId="{E736ED01-09A5-D946-6F4F-95F911EBAEF3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693" creationId="{6259F9D4-7C1A-672E-5545-537483162012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1649195042" sldId="2147481573"/>
            <ac:spMk id="729" creationId="{D669033E-E104-4701-9FA8-0725AEAFE5BB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1649195042" sldId="2147481573"/>
            <ac:spMk id="5950" creationId="{67C9FCC4-747D-1222-2E93-7E2FB6A11752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1649195042" sldId="2147481573"/>
            <ac:spMk id="5952" creationId="{99DDD2A9-5448-44BE-ECDD-AD5B2722BC8A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1649195042" sldId="2147481573"/>
            <ac:spMk id="5955" creationId="{16E5C3DD-D526-1D7A-D9B0-4556BF8E94E2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1649195042" sldId="2147481573"/>
            <ac:spMk id="5959" creationId="{E62E4452-3EDA-7C84-6FAF-ACF6570866F8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1649195042" sldId="2147481573"/>
            <ac:spMk id="11279" creationId="{F1B0D071-24DA-72B9-58C1-E4D5D1776653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1649195042" sldId="2147481573"/>
            <ac:spMk id="11290" creationId="{8B483B62-1ACC-74FE-472E-975C61118E80}"/>
          </ac:spMkLst>
        </pc:spChg>
      </pc:sldChg>
      <pc:sldChg chg="addSp delSp modSp ord">
        <pc:chgData name="" userId="" providerId="" clId="Web-{2B04FCF8-D44E-40AC-B445-3FA382DF2465}" dt="2026-10-28T01:09:18.530" v="5" actId="34807"/>
        <pc:sldMkLst>
          <pc:docMk/>
          <pc:sldMk cId="3260668407" sldId="2147481574"/>
        </pc:sldMkLst>
        <pc:spChg chg="mod">
          <ac:chgData name="" userId="" providerId="" clId="Web-{2B04FCF8-D44E-40AC-B445-3FA382DF2465}" dt="2026-10-28T01:09:18.530" v="5" actId="34807"/>
          <ac:spMkLst>
            <pc:docMk/>
            <pc:sldMk cId="3260668407" sldId="2147481574"/>
            <ac:spMk id="21" creationId="{BB5770EF-09B4-A227-FEB9-5E492671505D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260668407" sldId="2147481574"/>
            <ac:spMk id="24" creationId="{9808A44D-CD1E-5C93-740A-5136B620B900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260668407" sldId="2147481574"/>
            <ac:spMk id="25" creationId="{3096C90D-906E-9EDA-B2F1-71DFAA514282}"/>
          </ac:spMkLst>
        </pc:spChg>
        <pc:spChg chg="mod">
          <ac:chgData name="" userId="" providerId="" clId="Web-{2B04FCF8-D44E-40AC-B445-3FA382DF2465}" dt="2026-10-28T01:09:18.530" v="5" actId="34807"/>
          <ac:spMkLst>
            <pc:docMk/>
            <pc:sldMk cId="3260668407" sldId="2147481574"/>
            <ac:spMk id="45" creationId="{B1424C97-FE94-B575-8D8B-970E0C7EB595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260668407" sldId="2147481574"/>
            <ac:spMk id="766" creationId="{7CECD97F-1E40-8DA2-BBD3-B97667119368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260668407" sldId="2147481574"/>
            <ac:spMk id="804" creationId="{682FB32C-D200-B466-C8A5-87942CBF65F0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260668407" sldId="2147481574"/>
            <ac:spMk id="843" creationId="{4754A3E6-EC42-89CD-EAC8-52D14641EEA1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260668407" sldId="2147481574"/>
            <ac:spMk id="883" creationId="{0BC017C5-D4FC-B0FB-3286-A512B8C50A3E}"/>
          </ac:spMkLst>
        </pc:spChg>
      </pc:sldChg>
      <pc:sldChg chg="addSp delSp modSp ord modNotesTx">
        <pc:chgData name="" userId="" providerId="" clId="Web-{2B04FCF8-D44E-40AC-B445-3FA382DF2465}" dt="2026-10-28T01:16:06.205" v="16" actId="34807"/>
        <pc:sldMkLst>
          <pc:docMk/>
          <pc:sldMk cId="3830860484" sldId="2147481575"/>
        </pc:sldMkLst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14" creationId="{50D47652-9788-0569-C2E2-CDF9D1DDF09D}"/>
          </ac:spMkLst>
        </pc:spChg>
        <pc:spChg chg="mod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21" creationId="{81788D43-1F76-D5E5-062D-6B0B9D52213D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24" creationId="{75F6ED49-8A22-5F54-2D42-E28CF44E958A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27" creationId="{364B6A6A-33B5-0326-CB73-ABED1B6BE833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30" creationId="{5C941058-D102-1815-BE5E-E2A6F904D0EC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32" creationId="{7DBEAB29-AF28-610E-B746-9A3DCC44785D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35" creationId="{00C92352-80F0-3380-FA56-EF576E7889CC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37" creationId="{FF5ACBDA-1FA9-AAD6-4741-54CAEB23F3C4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39" creationId="{A1A7420D-0376-12E6-8CA4-AAE98EE1E433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830860484" sldId="2147481575"/>
            <ac:spMk id="41" creationId="{C1D73013-B6A3-4C4F-923A-3207B6109EDA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924" creationId="{85EFF464-952A-B186-79D8-AE6B87FCDAF0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1144" creationId="{DC9B10E5-F66E-3360-1DD2-62A80157B7C5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1389" creationId="{8BCDFFA1-E041-3AFE-566C-0C997B0A86F0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1774" creationId="{8357ABFC-CDD6-FB3D-99F7-52E4B093CCFE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1833" creationId="{F812A96B-5AAC-498D-BF66-C37EAC715FE7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1893" creationId="{2255CECE-EEC4-5E02-2712-1920BB8CCC93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1954" creationId="{81E063C8-BFBB-3FEF-C287-72E08F0143FE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016" creationId="{AAE5AB6F-8D78-7658-00EC-EA76A339DCFF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079" creationId="{0F8A3C1B-D0C1-8022-92C8-5CB817865660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143" creationId="{A6CC6978-FA26-0AE1-9966-C37D2409C072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208" creationId="{8807F305-D49A-92C9-02B9-6E63755A5C70}"/>
          </ac:spMkLst>
        </pc:spChg>
        <pc:spChg chg="del mod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274" creationId="{06DEB956-2146-4170-D4AC-BD2A6C0BD183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2341" creationId="{05D426C1-EEFF-D715-02AE-10BB1A3BFBE8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2409" creationId="{8CC764BC-624F-22D3-AE9B-FD560AED7C39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830860484" sldId="2147481575"/>
            <ac:spMk id="2478" creationId="{5079F8FE-944F-1EEC-D0E4-F3ADBE7ABF4C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619" creationId="{E8DA7F0A-7E55-FB43-DE17-52F3A4066F49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830860484" sldId="2147481575"/>
            <ac:spMk id="2691" creationId="{D9B6F913-A46F-1FCC-9121-0927DF28BF3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830860484" sldId="2147481575"/>
            <ac:spMk id="5964" creationId="{D540D810-67D9-DF30-271C-1B980A7FEB71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830860484" sldId="2147481575"/>
            <ac:spMk id="5970" creationId="{C112627E-BF01-32C4-AFCB-CE3D7534EE06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830860484" sldId="2147481575"/>
            <ac:spMk id="5977" creationId="{42E5A708-6463-0496-B55F-FEBB0E5A18F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830860484" sldId="2147481575"/>
            <ac:spMk id="5985" creationId="{EAF4B82C-F0A9-AF37-7E88-1CA9BED81A2D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830860484" sldId="2147481575"/>
            <ac:spMk id="11302" creationId="{20855811-E12C-3E5A-A5FD-3CAC55904D23}"/>
          </ac:spMkLst>
        </pc:spChg>
      </pc:sldChg>
      <pc:sldChg chg="addSp delSp modSp ord">
        <pc:chgData name="" userId="" providerId="" clId="Web-{2B04FCF8-D44E-40AC-B445-3FA382DF2465}" dt="2026-10-28T01:09:18.530" v="5" actId="34807"/>
        <pc:sldMkLst>
          <pc:docMk/>
          <pc:sldMk cId="3432557603" sldId="2147481576"/>
        </pc:sldMkLst>
        <pc:spChg chg="mod">
          <ac:chgData name="" userId="" providerId="" clId="Web-{2B04FCF8-D44E-40AC-B445-3FA382DF2465}" dt="2026-10-28T01:09:18.530" v="5" actId="34807"/>
          <ac:spMkLst>
            <pc:docMk/>
            <pc:sldMk cId="3432557603" sldId="2147481576"/>
            <ac:spMk id="21" creationId="{41BBFE5D-3C46-1E83-ECF1-D32913B27EBF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432557603" sldId="2147481576"/>
            <ac:spMk id="24" creationId="{E1911D9C-A915-8601-86E4-CF718EE2BE65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3432557603" sldId="2147481576"/>
            <ac:spMk id="25" creationId="{14C200B3-B5B3-FA4F-95BD-14D397D7E831}"/>
          </ac:spMkLst>
        </pc:spChg>
        <pc:spChg chg="mod">
          <ac:chgData name="" userId="" providerId="" clId="Web-{2B04FCF8-D44E-40AC-B445-3FA382DF2465}" dt="2026-10-28T01:09:18.530" v="5" actId="34807"/>
          <ac:spMkLst>
            <pc:docMk/>
            <pc:sldMk cId="3432557603" sldId="2147481576"/>
            <ac:spMk id="45" creationId="{0E7AB929-1BE5-C58C-8255-DD147649D851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432557603" sldId="2147481576"/>
            <ac:spMk id="2764" creationId="{6E48C3C3-795D-739D-3E5B-3208A35DDE87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432557603" sldId="2147481576"/>
            <ac:spMk id="2838" creationId="{CF4D92D1-1C5B-BFDD-1E81-1B983814CACE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432557603" sldId="2147481576"/>
            <ac:spMk id="2913" creationId="{632ADEEF-BF3C-9DB5-F0CA-248227BA8FF9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3432557603" sldId="2147481576"/>
            <ac:spMk id="2989" creationId="{9A2B1F9D-71BB-7E66-2F51-40332736C12B}"/>
          </ac:spMkLst>
        </pc:spChg>
      </pc:sldChg>
      <pc:sldChg chg="addSp delSp modSp ord modNotesTx">
        <pc:chgData name="" userId="" providerId="" clId="Web-{2B04FCF8-D44E-40AC-B445-3FA382DF2465}" dt="2026-10-28T01:16:06.205" v="16" actId="34807"/>
        <pc:sldMkLst>
          <pc:docMk/>
          <pc:sldMk cId="963964081" sldId="2147481577"/>
        </pc:sldMkLst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14" creationId="{CED824D9-0714-CF75-6292-772FFDB02C92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23" creationId="{65A69003-CF91-E545-1A73-53F4D0F529D4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25" creationId="{6FD25CF8-C2BB-7C53-A23E-B1A603E43138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27" creationId="{813BFD59-4FA7-64C3-A9A7-23A0183822CC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28" creationId="{D92394B1-4533-B3D9-B3F4-ABD159B34F92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29" creationId="{83C8E7C7-379F-C155-E968-EFFB8EC33423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33" creationId="{D25FD21F-3A92-C10A-C33A-17B51BB06EF8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37" creationId="{171CC27A-0677-53A3-FE5A-5D18DC036C8A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40" creationId="{7AA2AF2D-2264-6BB8-51E6-BBF9DBBAB545}"/>
          </ac:spMkLst>
        </pc:spChg>
        <pc:spChg chg="del">
          <ac:chgData name="" userId="" providerId="" clId="Web-{2B04FCF8-D44E-40AC-B445-3FA382DF2465}" dt="2026-10-28T01:09:18.530" v="5" actId="34807"/>
          <ac:spMkLst>
            <pc:docMk/>
            <pc:sldMk cId="963964081" sldId="2147481577"/>
            <ac:spMk id="41" creationId="{0149DBBA-BF3E-4A81-B864-440307D56721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3223" creationId="{C3E9EEFC-0650-58E6-93AE-A9CB057F1991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3549" creationId="{21318254-0A51-425E-0BB5-601846C1878A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3633" creationId="{334AA835-1556-810A-04CC-D97D5B2FC373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3718" creationId="{82031485-E388-6EFA-EBD2-90783185C8F5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4434" creationId="{537A3022-CF86-B641-76D9-C08DDFFF1246}"/>
          </ac:spMkLst>
        </pc:spChg>
        <pc:spChg chg="add mod">
          <ac:chgData name="" userId="" providerId="" clId="Web-{2B04FCF8-D44E-40AC-B445-3FA382DF2465}" dt="2026-10-28T01:09:16.436" v="4" actId="34807"/>
          <ac:spMkLst>
            <pc:docMk/>
            <pc:sldMk cId="963964081" sldId="2147481577"/>
            <ac:spMk id="4528" creationId="{F91CA3A2-5EE7-16B7-B844-D83B5776051C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4623" creationId="{6915FF47-5701-9B02-998E-9273C1506A1F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4719" creationId="{C588F348-0672-7C77-8CB2-09E5EC948D66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4816" creationId="{C447EC9D-B859-F8DC-1F7E-F3889F361833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4914" creationId="{9C6D7C4E-E5DA-5016-F03D-C5B567B9322D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013" creationId="{E2C2102C-B067-0D3D-313D-D0947E275D17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113" creationId="{4502A78A-06B5-286A-0CC4-6062630B1D55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214" creationId="{BAF2AFAB-9081-F0A3-7703-4DAFE5132167}"/>
          </ac:spMkLst>
        </pc:spChg>
        <pc:spChg chg="add del mod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316" creationId="{B649BAE8-8431-6BF6-4031-C7256DA7A000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841" creationId="{3D0BC895-D985-501B-61AA-990AE6CE6EAD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963964081" sldId="2147481577"/>
            <ac:spMk id="5949" creationId="{A44A69D9-4F49-7EE3-87EF-B132499CE4B0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963964081" sldId="2147481577"/>
            <ac:spMk id="5994" creationId="{F08B757D-3DD0-853A-E833-F84D57B61D8D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963964081" sldId="2147481577"/>
            <ac:spMk id="6004" creationId="{2268D246-FEF3-1ABC-4661-0DFD646342EE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963964081" sldId="2147481577"/>
            <ac:spMk id="6015" creationId="{B89657F6-A419-38CE-57D7-4415488E8B2F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963964081" sldId="2147481577"/>
            <ac:spMk id="6027" creationId="{885A1119-55D2-CCCB-82BF-1783091D7C5F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963964081" sldId="2147481577"/>
            <ac:spMk id="11315" creationId="{92D01C8C-3DEB-CDAC-4FC9-7440E137137E}"/>
          </ac:spMkLst>
        </pc:spChg>
      </pc:sldChg>
      <pc:sldChg chg="addSp delSp modSp ord">
        <pc:chgData name="" userId="" providerId="" clId="Web-{2B04FCF8-D44E-40AC-B445-3FA382DF2465}" dt="2026-10-28T01:10:30.405" v="8" actId="34807"/>
        <pc:sldMkLst>
          <pc:docMk/>
          <pc:sldMk cId="3176803694" sldId="2147481578"/>
        </pc:sldMkLst>
        <pc:spChg chg="mod">
          <ac:chgData name="" userId="" providerId="" clId="Web-{2B04FCF8-D44E-40AC-B445-3FA382DF2465}" dt="2026-10-28T01:10:30.405" v="8" actId="34807"/>
          <ac:spMkLst>
            <pc:docMk/>
            <pc:sldMk cId="3176803694" sldId="2147481578"/>
            <ac:spMk id="21" creationId="{24761CA5-64DD-6AD3-734A-413E3FF708B4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176803694" sldId="2147481578"/>
            <ac:spMk id="24" creationId="{6AA5CB44-5AD7-01C7-E38A-6CB863771565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176803694" sldId="2147481578"/>
            <ac:spMk id="25" creationId="{D55027DD-50E3-5528-8FB9-297D39A51601}"/>
          </ac:spMkLst>
        </pc:spChg>
        <pc:spChg chg="mod">
          <ac:chgData name="" userId="" providerId="" clId="Web-{2B04FCF8-D44E-40AC-B445-3FA382DF2465}" dt="2026-10-28T01:10:30.405" v="8" actId="34807"/>
          <ac:spMkLst>
            <pc:docMk/>
            <pc:sldMk cId="3176803694" sldId="2147481578"/>
            <ac:spMk id="45" creationId="{3788E4C7-ACFC-A4D5-8A2C-6C0CFC175320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176803694" sldId="2147481578"/>
            <ac:spMk id="6040" creationId="{FDA01809-1D09-F756-78E8-414380B75AC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176803694" sldId="2147481578"/>
            <ac:spMk id="6054" creationId="{D3C12529-33C5-664C-D5DE-B36DB8E837B1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176803694" sldId="2147481578"/>
            <ac:spMk id="6069" creationId="{B57EE440-56DF-4B96-B86D-EC0206386BA0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176803694" sldId="2147481578"/>
            <ac:spMk id="6085" creationId="{D2C3EC95-A30A-FF65-EEF2-3B223786BD46}"/>
          </ac:spMkLst>
        </pc:spChg>
      </pc:sldChg>
      <pc:sldChg chg="addSp delSp modSp ord modNotesTx">
        <pc:chgData name="" userId="" providerId="" clId="Web-{2B04FCF8-D44E-40AC-B445-3FA382DF2465}" dt="2026-10-28T01:16:06.205" v="16" actId="34807"/>
        <pc:sldMkLst>
          <pc:docMk/>
          <pc:sldMk cId="3915731282" sldId="2147481579"/>
        </pc:sldMkLst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14" creationId="{5907F913-0995-0E11-6806-EE6B4AEBFA14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23" creationId="{6AD6C6CF-59C6-0AA2-4065-66B7D1045CF3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25" creationId="{08E51291-95BE-C16D-DA4F-34350E12983D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27" creationId="{5DA2913C-E277-CEB4-4ABE-926EF700FB7E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28" creationId="{7CF35D4F-D0C0-B3ED-E43D-A4058E0A51AB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32" creationId="{34B2FEC7-55B0-FEFB-CDC0-50BC8403F3D2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33" creationId="{391F9F59-7A3A-AC8A-B653-A08B0BC1A67F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35" creationId="{0EA47865-89DC-C348-F789-B54519B391DE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39" creationId="{B16D424F-12E5-1158-9C62-6B5487FDB61D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915731282" sldId="2147481579"/>
            <ac:spMk id="41" creationId="{F8512830-8CE8-CC8D-C829-5A338ED75C7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139" creationId="{B659AB47-26B9-BA19-B700-F36989E7734C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159" creationId="{86B80752-DFE3-41E5-F2DD-4B701D6409FA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249" creationId="{56B570B5-9719-9EC5-2FBC-7FB17AD8BC29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274" creationId="{66817B97-FBD4-D4F4-B195-E7259826B3F0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327" creationId="{FABB586B-9994-B5B4-7E16-75949C62D530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384" creationId="{34E989D3-F237-15D5-8268-CF1DED5A7321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579" creationId="{890780E7-1D96-8222-F5C1-C29F582331AB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915731282" sldId="2147481579"/>
            <ac:spMk id="6615" creationId="{05401C6F-3DB4-B86F-85CD-347A536D00EC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769" creationId="{6AD11713-0037-FAEB-74CC-82BB3C704DF7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915731282" sldId="2147481579"/>
            <ac:spMk id="6852" creationId="{C4103B51-4F5A-CCA6-22FD-51A7E783806E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915731282" sldId="2147481579"/>
            <ac:spMk id="11329" creationId="{D4232FFB-63F5-F664-4E34-100BE1B995FF}"/>
          </ac:spMkLst>
        </pc:spChg>
      </pc:sldChg>
      <pc:sldChg chg="addSp delSp modSp add ord">
        <pc:chgData name="" userId="" providerId="" clId="Web-{2B04FCF8-D44E-40AC-B445-3FA382DF2465}" dt="2026-10-28T01:10:30.405" v="8" actId="34807"/>
        <pc:sldMkLst>
          <pc:docMk/>
          <pc:sldMk cId="3009108518" sldId="2147481580"/>
        </pc:sldMkLst>
        <pc:spChg chg="mod">
          <ac:chgData name="" userId="" providerId="" clId="Web-{2B04FCF8-D44E-40AC-B445-3FA382DF2465}" dt="2026-10-28T01:10:30.405" v="8" actId="34807"/>
          <ac:spMkLst>
            <pc:docMk/>
            <pc:sldMk cId="3009108518" sldId="2147481580"/>
            <ac:spMk id="21" creationId="{8A1D9F9D-9AD0-D527-110F-8427FDBC8B16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09108518" sldId="2147481580"/>
            <ac:spMk id="24" creationId="{ECACBD61-E553-B037-6F89-BDA71A301B42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09108518" sldId="2147481580"/>
            <ac:spMk id="25" creationId="{9805A405-3139-B757-4D7D-921226AA576A}"/>
          </ac:spMkLst>
        </pc:spChg>
        <pc:spChg chg="mod">
          <ac:chgData name="" userId="" providerId="" clId="Web-{2B04FCF8-D44E-40AC-B445-3FA382DF2465}" dt="2026-10-28T01:10:30.405" v="8" actId="34807"/>
          <ac:spMkLst>
            <pc:docMk/>
            <pc:sldMk cId="3009108518" sldId="2147481580"/>
            <ac:spMk id="45" creationId="{C34A27BE-53D4-AF0C-AD8B-2969F4EB4BB7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09108518" sldId="2147481580"/>
            <ac:spMk id="6895" creationId="{ACC63FDD-A308-3B88-7176-A7C0175DB4FD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09108518" sldId="2147481580"/>
            <ac:spMk id="6939" creationId="{45B78930-BC2A-D075-AE9D-88D0525D7C9E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09108518" sldId="2147481580"/>
            <ac:spMk id="6984" creationId="{43D50310-1D6D-000F-9790-0FE9BEF8C9B1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09108518" sldId="2147481580"/>
            <ac:spMk id="7030" creationId="{76E2F2FB-BE7B-4A28-FAEB-D1968376D347}"/>
          </ac:spMkLst>
        </pc:spChg>
      </pc:sldChg>
      <pc:sldChg chg="addSp delSp modSp add ord replId modNotesTx">
        <pc:chgData name="" userId="" providerId="" clId="Web-{2B04FCF8-D44E-40AC-B445-3FA382DF2465}" dt="2026-10-28T01:16:06.205" v="16" actId="34807"/>
        <pc:sldMkLst>
          <pc:docMk/>
          <pc:sldMk cId="3028800896" sldId="2147481581"/>
        </pc:sldMkLst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14" creationId="{00E65D31-97B8-2ECF-FD82-B6C7A583EBEC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23" creationId="{AA92C361-1441-97D4-4683-F3560DDA8C02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24" creationId="{08141ECC-2339-CC02-400E-55F1AB0AB612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29" creationId="{813F0F96-40EF-F75C-BABD-8408E39B570A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30" creationId="{603B6CEB-CAAF-353C-F3B1-CEC76F1CD158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34" creationId="{79DEF398-83E2-F461-4A4A-60694E25BA70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36" creationId="{5CFEE0A4-CA22-ECB9-A4CB-77E6E213FD91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37" creationId="{CAC5EB92-5244-35C5-F7DF-EF7781FC611A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39" creationId="{5DD58E0B-2A5F-2F75-FEE6-686EE740968C}"/>
          </ac:spMkLst>
        </pc:spChg>
        <pc:spChg chg="del">
          <ac:chgData name="" userId="" providerId="" clId="Web-{2B04FCF8-D44E-40AC-B445-3FA382DF2465}" dt="2026-10-28T01:10:30.405" v="8" actId="34807"/>
          <ac:spMkLst>
            <pc:docMk/>
            <pc:sldMk cId="3028800896" sldId="2147481581"/>
            <ac:spMk id="40" creationId="{16368EB9-1FE5-0CDB-9974-04F51B51E51A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125" creationId="{F976FFD9-3FE5-E235-08A0-D16745C945C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174" creationId="{0736B4BE-8B55-1928-6F18-A61C70D501AC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224" creationId="{1B1AF23B-3736-D586-25B0-885A42E192CB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327" creationId="{D5CDF3E3-7CF9-4885-EFD9-C86656F72C92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434" creationId="{C0021B13-3DA2-285E-B841-FD7F4E9FB0BB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602" creationId="{89D5260A-E084-455F-5CB4-494C1AA4BF41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779" creationId="{758CA588-C280-FDCC-423B-7CBE7B5DA442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7840" creationId="{5D3C3605-4389-2358-38D5-FE61AFAEA05A}"/>
          </ac:spMkLst>
        </pc:spChg>
        <pc:spChg chg="del">
          <ac:chgData name="" userId="" providerId="" clId="Web-{2B04FCF8-D44E-40AC-B445-3FA382DF2465}" dt="2026-10-28T01:16:06.205" v="16" actId="34807"/>
          <ac:spMkLst>
            <pc:docMk/>
            <pc:sldMk cId="3028800896" sldId="2147481581"/>
            <ac:spMk id="8160" creationId="{18EC371C-5F73-BC43-0C15-20D1941ACFE4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8364" creationId="{D27DCF60-F003-14CA-7D43-6A1EBE3B10EE}"/>
          </ac:spMkLst>
        </pc:spChg>
        <pc:spChg chg="add mod">
          <ac:chgData name="" userId="" providerId="" clId="Web-{2B04FCF8-D44E-40AC-B445-3FA382DF2465}" dt="2026-10-28T01:10:27.374" v="7" actId="34807"/>
          <ac:spMkLst>
            <pc:docMk/>
            <pc:sldMk cId="3028800896" sldId="2147481581"/>
            <ac:spMk id="8505" creationId="{B3D5D83C-11A4-DE7D-2969-1EEC9248CE04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028800896" sldId="2147481581"/>
            <ac:spMk id="11344" creationId="{66067DA6-18F4-1950-4863-C089A34EB7EB}"/>
          </ac:spMkLst>
        </pc:spChg>
      </pc:sldChg>
      <pc:sldChg chg="addSp delSp modSp add mod ord setBg">
        <pc:chgData name="" userId="" providerId="" clId="Web-{2B04FCF8-D44E-40AC-B445-3FA382DF2465}" dt="2026-10-28T01:16:06.205" v="16" actId="34807"/>
        <pc:sldMkLst>
          <pc:docMk/>
          <pc:sldMk cId="3733405582" sldId="2147481782"/>
        </pc:sldMkLst>
        <pc:spChg chg="add del mod">
          <ac:chgData name="" userId="" providerId="" clId="Web-{2B04FCF8-D44E-40AC-B445-3FA382DF2465}" dt="2026-10-28T01:16:06.205" v="16" actId="34807"/>
          <ac:spMkLst>
            <pc:docMk/>
            <pc:sldMk cId="3733405582" sldId="2147481782"/>
            <ac:spMk id="8580" creationId="{07F6320B-B4C2-3700-DBDF-9330CCE48FD8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3733405582" sldId="2147481782"/>
            <ac:spMk id="8582" creationId="{47CE179C-55EB-ADC2-2770-5D807188D7EC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733405582" sldId="2147481782"/>
            <ac:spMk id="8585" creationId="{E4DAEC28-0EC2-94CA-8459-2161A20021F3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733405582" sldId="2147481782"/>
            <ac:spMk id="8589" creationId="{E35FA01A-F6AA-A899-BFBB-7B91F6915097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3733405582" sldId="2147481782"/>
            <ac:spMk id="8594" creationId="{F68327D2-0128-9458-53BA-0023FC47436B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733405582" sldId="2147481782"/>
            <ac:spMk id="11234" creationId="{5E4526EA-B012-A96E-06CB-8983911F09C6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733405582" sldId="2147481782"/>
            <ac:spMk id="11236" creationId="{1D1C886A-F8D8-5D4F-A77C-4368A2973FDA}"/>
          </ac:spMkLst>
        </pc:spChg>
        <pc:picChg chg="add">
          <ac:chgData name="" userId="" providerId="" clId="Web-{2B04FCF8-D44E-40AC-B445-3FA382DF2465}" dt="2026-10-28T01:13:42.454" v="9" actId="34807"/>
          <ac:picMkLst>
            <pc:docMk/>
            <pc:sldMk cId="3733405582" sldId="2147481782"/>
            <ac:picMk id="8578" creationId="{63FF5DE3-5FB7-4B70-EDE2-F1110F1FB5B0}"/>
          </ac:picMkLst>
        </pc:picChg>
        <pc:picChg chg="add">
          <ac:chgData name="" userId="" providerId="" clId="Web-{2B04FCF8-D44E-40AC-B445-3FA382DF2465}" dt="2026-10-28T01:13:42.454" v="9" actId="34807"/>
          <ac:picMkLst>
            <pc:docMk/>
            <pc:sldMk cId="3733405582" sldId="2147481782"/>
            <ac:picMk id="8579" creationId="{51597257-71EF-98C2-6859-44BD56BA30F2}"/>
          </ac:picMkLst>
        </pc:picChg>
      </pc:sldChg>
      <pc:sldChg chg="addSp modSp add ord">
        <pc:chgData name="" userId="" providerId="" clId="Web-{2B04FCF8-D44E-40AC-B445-3FA382DF2465}" dt="2026-10-28T01:17:27.721" v="18" actId="34807"/>
        <pc:sldMkLst>
          <pc:docMk/>
          <pc:sldMk cId="3390593687" sldId="2147481986"/>
        </pc:sldMkLst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624" creationId="{448835F8-5335-7C7A-71F3-FC3FBB1D4CC8}"/>
          </ac:spMkLst>
        </pc:spChg>
        <pc:spChg chg="add 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634" creationId="{C8D6EC19-1E5B-BD88-0E32-206A641ABCD6}"/>
          </ac:spMkLst>
        </pc:spChg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657" creationId="{2AA21EB0-10D5-B833-5878-B9D92CDE7E9F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670" creationId="{4A1D7FA6-7494-04A8-0345-C7E86BB17FB1}"/>
          </ac:spMkLst>
        </pc:spChg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699" creationId="{C77639CD-F4D2-C282-20A5-F2FF3D910842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715" creationId="{5E97AFED-F02E-88B9-9A15-327F832F7929}"/>
          </ac:spMkLst>
        </pc:spChg>
        <pc:spChg chg="add 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732" creationId="{C94D7C74-20F3-B3FC-EC71-5F4D95CDF6C8}"/>
          </ac:spMkLst>
        </pc:spChg>
        <pc:spChg chg="add 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750" creationId="{408DB487-B5DE-63CA-8727-A2695C793D73}"/>
          </ac:spMkLst>
        </pc:spChg>
        <pc:spChg chg="add 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789" creationId="{5876DAE8-EA73-A420-95E4-014B857C1893}"/>
          </ac:spMkLst>
        </pc:spChg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810" creationId="{281B0AC4-53A8-60B2-B33A-1E0963EF7EDE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832" creationId="{47D37053-9ED4-853C-DD10-B54B9957B6DC}"/>
          </ac:spMkLst>
        </pc:spChg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879" creationId="{E60EB401-8F71-548A-1167-F740A0E12CB2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3390593687" sldId="2147481986"/>
            <ac:spMk id="8904" creationId="{A9A7BDC4-B2DE-7D58-E41D-89342AB1A1E0}"/>
          </ac:spMkLst>
        </pc:spChg>
        <pc:spChg chg="add 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8957" creationId="{B2D6A9F4-6559-10D6-7491-044AD9F17735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8985" creationId="{2282FA23-2E2D-DC24-7BEC-C1022FB33BD3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3390593687" sldId="2147481986"/>
            <ac:spMk id="9014" creationId="{871B3C7A-596F-262F-85BE-54C460ED7105}"/>
          </ac:spMkLst>
        </pc:spChg>
        <pc:spChg chg="add 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9044" creationId="{AB1F7059-294D-070E-C8E4-2E7D394C5570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9075" creationId="{1E116AB9-AC65-A5DE-60DB-1302E087096F}"/>
          </ac:spMkLst>
        </pc:spChg>
        <pc:spChg chg="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9107" creationId="{F2D84DA0-2016-F126-7B37-0FA69EDF1CAA}"/>
          </ac:spMkLst>
        </pc:spChg>
        <pc:spChg chg="mod">
          <ac:chgData name="" userId="" providerId="" clId="Web-{2B04FCF8-D44E-40AC-B445-3FA382DF2465}" dt="2026-10-28T01:17:27.721" v="18" actId="34807"/>
          <ac:spMkLst>
            <pc:docMk/>
            <pc:sldMk cId="3390593687" sldId="2147481986"/>
            <ac:spMk id="9140" creationId="{5D59DF93-4874-86D0-7CF2-A1C6E468DFBA}"/>
          </ac:spMkLst>
        </pc:spChg>
        <pc:spChg chg="add mod">
          <ac:chgData name="" userId="" providerId="" clId="Web-{2B04FCF8-D44E-40AC-B445-3FA382DF2465}" dt="2026-10-28T01:13:46.407" v="13" actId="34807"/>
          <ac:spMkLst>
            <pc:docMk/>
            <pc:sldMk cId="3390593687" sldId="2147481986"/>
            <ac:spMk id="9174" creationId="{52D85A65-9A78-DB1F-35F6-5C78A8A03837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3390593687" sldId="2147481986"/>
            <ac:spMk id="9245" creationId="{F5CCC8DA-0A3D-1C1F-0CF4-A3BC184A200D}"/>
          </ac:spMkLst>
        </pc:spChg>
        <pc:picChg chg="add">
          <ac:chgData name="" userId="" providerId="" clId="Web-{2B04FCF8-D44E-40AC-B445-3FA382DF2465}" dt="2026-10-28T01:13:44.751" v="11" actId="34807"/>
          <ac:picMkLst>
            <pc:docMk/>
            <pc:sldMk cId="3390593687" sldId="2147481986"/>
            <ac:picMk id="11233" creationId="{A181BB3F-F5B9-EE02-0801-38CC21FBC0CC}"/>
          </ac:picMkLst>
        </pc:picChg>
      </pc:sldChg>
      <pc:sldChg chg="addSp delSp modSp add ord">
        <pc:chgData name="" userId="" providerId="" clId="Web-{2B04FCF8-D44E-40AC-B445-3FA382DF2465}" dt="2026-10-28T01:17:27.721" v="18" actId="34807"/>
        <pc:sldMkLst>
          <pc:docMk/>
          <pc:sldMk cId="280141693" sldId="2147482191"/>
        </pc:sldMkLst>
        <pc:spChg chg="add mod">
          <ac:chgData name="" userId="" providerId="" clId="Web-{2B04FCF8-D44E-40AC-B445-3FA382DF2465}" dt="2026-10-28T01:13:43.094" v="10" actId="34807"/>
          <ac:spMkLst>
            <pc:docMk/>
            <pc:sldMk cId="280141693" sldId="2147482191"/>
            <ac:spMk id="9320" creationId="{4D36C95C-F2C2-7FFE-1BA9-263211BE0B76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280141693" sldId="2147482191"/>
            <ac:spMk id="9359" creationId="{A22D31DF-2E8F-8A9E-9C73-9C3FCD4627BC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440" creationId="{EB98B675-D4DD-B245-8359-4E7577F568F9}"/>
          </ac:spMkLst>
        </pc:spChg>
        <pc:spChg chg="del mod">
          <ac:chgData name="" userId="" providerId="" clId="Web-{2B04FCF8-D44E-40AC-B445-3FA382DF2465}" dt="2026-10-28T01:17:27.721" v="18" actId="34807"/>
          <ac:spMkLst>
            <pc:docMk/>
            <pc:sldMk cId="280141693" sldId="2147482191"/>
            <ac:spMk id="9482" creationId="{AFA6C06F-90D2-5410-6B39-6F95F983C0BA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569" creationId="{CBD01C31-A9EE-8DF6-54FD-291135D9B1AE}"/>
          </ac:spMkLst>
        </pc:spChg>
        <pc:spChg chg="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614" creationId="{78272ACD-D41C-E7EC-56DF-E2B983E58F56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280141693" sldId="2147482191"/>
            <ac:spMk id="9660" creationId="{EB9168DC-801D-7B4A-C25F-A373EFC77C89}"/>
          </ac:spMkLst>
        </pc:spChg>
        <pc:spChg chg="del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707" creationId="{9C96E462-F577-EBD6-2828-205A32BC6A9D}"/>
          </ac:spMkLst>
        </pc:spChg>
        <pc:spChg chg="add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755" creationId="{6F18850D-7A5A-2BBA-5F95-31B79BAB7B88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854" creationId="{4A368DFE-E70C-7BB4-019A-FE2730CA594C}"/>
          </ac:spMkLst>
        </pc:spChg>
        <pc:spChg chg="del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9905" creationId="{A6308D5C-AC1B-069F-C9E3-80FD81ACB49C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280141693" sldId="2147482191"/>
            <ac:spMk id="9957" creationId="{921FC472-6952-DBBB-879E-DB91057371A7}"/>
          </ac:spMkLst>
        </pc:spChg>
        <pc:spChg chg="del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10010" creationId="{82238470-9FC4-B496-D9CE-400A3047ADF3}"/>
          </ac:spMkLst>
        </pc:spChg>
        <pc:spChg chg="add mod">
          <ac:chgData name="" userId="" providerId="" clId="Web-{2B04FCF8-D44E-40AC-B445-3FA382DF2465}" dt="2026-10-28T01:16:06.205" v="16" actId="34807"/>
          <ac:spMkLst>
            <pc:docMk/>
            <pc:sldMk cId="280141693" sldId="2147482191"/>
            <ac:spMk id="10064" creationId="{64CDE37D-4608-040D-491C-AD594BC0BEBA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280141693" sldId="2147482191"/>
            <ac:spMk id="10349" creationId="{D60D86C8-E55F-FC70-945D-2A63C22254E0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39" creationId="{7A049B54-9CA6-1BC4-333A-B4E494525D35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43" creationId="{4BCB8588-3E55-8FB5-9A4D-60DB14D2E90F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48" creationId="{DCB5669D-BB2D-EBC6-25FE-E2C9CFD52C4B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54" creationId="{1D432A6B-EDA0-2EAF-88E3-144A0A67C089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61" creationId="{231415F3-D89F-A942-0E85-60D48B332C5F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280141693" sldId="2147482191"/>
            <ac:spMk id="11269" creationId="{2430E38A-A6F9-29AB-493E-96F861A05816}"/>
          </ac:spMkLst>
        </pc:spChg>
        <pc:spChg chg="add mod">
          <ac:chgData name="" userId="" providerId="" clId="Web-{2B04FCF8-D44E-40AC-B445-3FA382DF2465}" dt="2026-10-28T01:17:26.753" v="17" actId="34807"/>
          <ac:spMkLst>
            <pc:docMk/>
            <pc:sldMk cId="280141693" sldId="2147482191"/>
            <ac:spMk id="11592" creationId="{873DF252-E3A4-9333-980E-F5B8124F7A66}"/>
          </ac:spMkLst>
        </pc:spChg>
      </pc:sldChg>
      <pc:sldChg chg="addSp delSp modSp add ord">
        <pc:chgData name="" userId="" providerId="" clId="Web-{2B04FCF8-D44E-40AC-B445-3FA382DF2465}" dt="2026-10-28T01:16:06.205" v="16" actId="34807"/>
        <pc:sldMkLst>
          <pc:docMk/>
          <pc:sldMk cId="2552631211" sldId="2147482397"/>
        </pc:sldMkLst>
        <pc:spChg chg="add mod">
          <ac:chgData name="" userId="" providerId="" clId="Web-{2B04FCF8-D44E-40AC-B445-3FA382DF2465}" dt="2026-10-28T01:13:43.094" v="10" actId="34807"/>
          <ac:spMkLst>
            <pc:docMk/>
            <pc:sldMk cId="2552631211" sldId="2147482397"/>
            <ac:spMk id="10409" creationId="{02DB1633-15CF-6986-CE49-5A098952AAB1}"/>
          </ac:spMkLst>
        </pc:spChg>
        <pc:spChg chg="add mod">
          <ac:chgData name="" userId="" providerId="" clId="Web-{2B04FCF8-D44E-40AC-B445-3FA382DF2465}" dt="2026-10-28T01:13:43.094" v="10" actId="34807"/>
          <ac:spMkLst>
            <pc:docMk/>
            <pc:sldMk cId="2552631211" sldId="2147482397"/>
            <ac:spMk id="10471" creationId="{550AAB76-6866-29E3-ABEA-C8080C38EE50}"/>
          </ac:spMkLst>
        </pc:spChg>
        <pc:graphicFrameChg chg="add mod">
          <ac:chgData name="" userId="" providerId="" clId="Web-{2B04FCF8-D44E-40AC-B445-3FA382DF2465}" dt="2026-10-28T01:16:01.658" v="14" actId="34807"/>
          <ac:graphicFrameMkLst>
            <pc:docMk/>
            <pc:sldMk cId="2552631211" sldId="2147482397"/>
            <ac:graphicFrameMk id="3" creationId="{5DC7C090-0C79-4AB8-AF7F-16B47DB51718}"/>
          </ac:graphicFrameMkLst>
        </pc:graphicFrameChg>
        <pc:graphicFrameChg chg="add del mod">
          <ac:chgData name="" userId="" providerId="" clId="Web-{2B04FCF8-D44E-40AC-B445-3FA382DF2465}" dt="2026-10-28T01:16:06.205" v="16" actId="34807"/>
          <ac:graphicFrameMkLst>
            <pc:docMk/>
            <pc:sldMk cId="2552631211" sldId="2147482397"/>
            <ac:graphicFrameMk id="5" creationId="{CCFE65C3-4E2E-4008-9886-98873E08877A}"/>
          </ac:graphicFrameMkLst>
        </pc:graphicFrameChg>
        <pc:picChg chg="add">
          <ac:chgData name="" userId="" providerId="" clId="Web-{2B04FCF8-D44E-40AC-B445-3FA382DF2465}" dt="2026-10-28T01:16:05.330" v="15" actId="34807"/>
          <ac:picMkLst>
            <pc:docMk/>
            <pc:sldMk cId="2552631211" sldId="2147482397"/>
            <ac:picMk id="11591" creationId="{A378C90C-9814-6BEC-3C8D-BF9C5BF52DDD}"/>
          </ac:picMkLst>
        </pc:picChg>
      </pc:sldChg>
      <pc:sldChg chg="addSp delSp modSp add ord modNotesTx">
        <pc:chgData name="" userId="" providerId="" clId="Web-{2B04FCF8-D44E-40AC-B445-3FA382DF2465}" dt="2026-10-28T01:17:27.721" v="18" actId="34807"/>
        <pc:sldMkLst>
          <pc:docMk/>
          <pc:sldMk cId="3214232394" sldId="2147482604"/>
        </pc:sldMkLst>
        <pc:spChg chg="add mod">
          <ac:chgData name="" userId="" providerId="" clId="Web-{2B04FCF8-D44E-40AC-B445-3FA382DF2465}" dt="2026-10-28T01:13:43.094" v="10" actId="34807"/>
          <ac:spMkLst>
            <pc:docMk/>
            <pc:sldMk cId="3214232394" sldId="2147482604"/>
            <ac:spMk id="10534" creationId="{F6EC4436-AE1A-D3FA-7518-FF6D6EEFD78E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599" creationId="{98100339-3470-B75F-5E11-5A923336953F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665" creationId="{5E06301A-24C0-B23E-87FB-F5BF037515E7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732" creationId="{48DB09C5-3E5C-1B3B-8C8D-CE6325CE9167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800" creationId="{4734C77C-5DEA-3745-2422-2375758899D3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869" creationId="{125B31CA-6487-33B5-6241-841C1CF27652}"/>
          </ac:spMkLst>
        </pc:spChg>
        <pc:spChg chg="add del mod">
          <ac:chgData name="" userId="" providerId="" clId="Web-{2B04FCF8-D44E-40AC-B445-3FA382DF2465}" dt="2026-10-28T01:16:06.205" v="16" actId="34807"/>
          <ac:spMkLst>
            <pc:docMk/>
            <pc:sldMk cId="3214232394" sldId="2147482604"/>
            <ac:spMk id="10939" creationId="{39BA22CE-9DAD-A60D-86A0-3775D73A6730}"/>
          </ac:spMkLst>
        </pc:spChg>
        <pc:spChg chg="add del mod">
          <ac:chgData name="" userId="" providerId="" clId="Web-{2B04FCF8-D44E-40AC-B445-3FA382DF2465}" dt="2026-10-28T01:17:27.721" v="18" actId="34807"/>
          <ac:spMkLst>
            <pc:docMk/>
            <pc:sldMk cId="3214232394" sldId="2147482604"/>
            <ac:spMk id="11010" creationId="{C75745D1-7559-2278-AEA9-AD5E2FC25932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361" creationId="{32EC9F34-7C2F-70B0-E1C1-A6D8C15E3737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379" creationId="{FAD50C75-916E-0F38-FEB1-A237C3E0790B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398" creationId="{A17DB722-2482-3FF0-EAFB-9382B506A234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418" creationId="{5209B311-8E3F-1AEC-27BE-DF790E89E45D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439" creationId="{D63535E3-0EA6-DDA3-04C6-7F7CFB2414E1}"/>
          </ac:spMkLst>
        </pc:spChg>
        <pc:spChg chg="add mod">
          <ac:chgData name="" userId="" providerId="" clId="Web-{2B04FCF8-D44E-40AC-B445-3FA382DF2465}" dt="2026-10-28T01:16:01.658" v="14" actId="34807"/>
          <ac:spMkLst>
            <pc:docMk/>
            <pc:sldMk cId="3214232394" sldId="2147482604"/>
            <ac:spMk id="11461" creationId="{E0EC5E5B-17DB-550F-16A5-123363D7D47B}"/>
          </ac:spMkLst>
        </pc:spChg>
        <pc:spChg chg="add del mod">
          <ac:chgData name="" userId="" providerId="" clId="Web-{2B04FCF8-D44E-40AC-B445-3FA382DF2465}" dt="2026-10-28T01:17:27.721" v="18" actId="34807"/>
          <ac:spMkLst>
            <pc:docMk/>
            <pc:sldMk cId="3214232394" sldId="2147482604"/>
            <ac:spMk id="11484" creationId="{74368719-A8C1-C052-C69A-427356AD939B}"/>
          </ac:spMkLst>
        </pc:spChg>
        <pc:spChg chg="add mod">
          <ac:chgData name="" userId="" providerId="" clId="Web-{2B04FCF8-D44E-40AC-B445-3FA382DF2465}" dt="2026-10-28T01:17:26.753" v="17" actId="34807"/>
          <ac:spMkLst>
            <pc:docMk/>
            <pc:sldMk cId="3214232394" sldId="2147482604"/>
            <ac:spMk id="11594" creationId="{4FA902B7-176A-602C-1DF0-4A9E66D4DD81}"/>
          </ac:spMkLst>
        </pc:spChg>
        <pc:spChg chg="add mod">
          <ac:chgData name="" userId="" providerId="" clId="Web-{2B04FCF8-D44E-40AC-B445-3FA382DF2465}" dt="2026-10-28T01:17:26.753" v="17" actId="34807"/>
          <ac:spMkLst>
            <pc:docMk/>
            <pc:sldMk cId="3214232394" sldId="2147482604"/>
            <ac:spMk id="11597" creationId="{20B71401-EF3D-6399-B3E7-55138960902E}"/>
          </ac:spMkLst>
        </pc:spChg>
        <pc:graphicFrameChg chg="add mod">
          <ac:chgData name="" userId="" providerId="" clId="Web-{2B04FCF8-D44E-40AC-B445-3FA382DF2465}" dt="2026-10-28T01:16:01.658" v="14" actId="34807"/>
          <ac:graphicFrameMkLst>
            <pc:docMk/>
            <pc:sldMk cId="3214232394" sldId="2147482604"/>
            <ac:graphicFrameMk id="10" creationId="{282F600B-695D-4758-AA46-67CE7FE2E1B2}"/>
          </ac:graphicFrameMkLst>
        </pc:graphicFrameChg>
        <pc:graphicFrameChg chg="add del mod">
          <ac:chgData name="" userId="" providerId="" clId="Web-{2B04FCF8-D44E-40AC-B445-3FA382DF2465}" dt="2026-10-28T01:16:06.205" v="16" actId="34807"/>
          <ac:graphicFrameMkLst>
            <pc:docMk/>
            <pc:sldMk cId="3214232394" sldId="2147482604"/>
            <ac:graphicFrameMk id="11" creationId="{80347D11-A598-4362-B709-648A89D43C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192C5-F207-4514-A20C-9C17831BFC47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EB76F-0A08-4E6C-9022-52EE202B41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81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case 1: Unified operational data foundation. Proposed BXT scores from the Microsoft team based on SATS Project SPEAR Playback #1 — validate with SATS stakeholders.
Business viability (value) 3.4 = average of revenue 2, efficiency 4, cost reduction 4, competitive advantage 4, time to value 3.
Experience viability 3.5 = user-need fit 4, clear audience 4, motivation vs alternatives 3, low adoption pain 3.
Technical viability 3.8 = skills available 3, integration ease 3, natural extension 5, accuracy / data assurance 4.
Feasibility = average of experience and technical viability = 3.6. Quadrant: Quick win.
Key results marked [x] or [baseline] need SATS figures — use the golden questions: how do you measure it, what is it now, what do you want it to be, what is the value of the difference, and over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257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case 2: AI operations control tower. Proposed BXT scores from the Microsoft team based on SATS Project SPEAR Playback #1 — validate with SATS stakeholders.
Business viability (value) 4.2 = average of revenue 3, efficiency 5, cost reduction 4, competitive advantage 5, time to value 4.
Experience viability 4.5 = user-need fit 5, clear audience 5, motivation vs alternatives 4, low adoption pain 4.
Technical viability 3.8 = skills available 4, integration ease 3, natural extension 4, accuracy / data assurance 4.
Feasibility = average of experience and technical viability = 4.1. Quadrant: Quick win.
Key results marked [x] or [baseline] need SATS figures — use the golden questions: how do you measure it, what is it now, what do you want it to be, what is the value of the difference, and over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03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case 3: Disruption prediction and recovery optimiser. Proposed BXT scores from the Microsoft team based on SATS Project SPEAR Playback #1 — validate with SATS stakeholders.
Business viability (value) 4.0 = average of revenue 3, efficiency 5, cost reduction 5, competitive advantage 5, time to value 2.
Experience viability 3.5 = user-need fit 5, clear audience 4, motivation vs alternatives 3, low adoption pain 2.
Technical viability 2.3 = skills available 2, integration ease 2, natural extension 3, accuracy / data assurance 2.
Feasibility = average of experience and technical viability = 2.9. Quadrant: Invest.
Key results marked [x] or [baseline] need SATS figures — use the golden questions: how do you measure it, what is it now, what do you want it to be, what is the value of the difference, and over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604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case 4: Operations copilot and proactive customer updates. Proposed BXT scores from the Microsoft team based on SATS Project SPEAR Playback #1 — validate with SATS stakeholders.
Business viability (value) 3.6 = average of revenue 3, efficiency 4, cost reduction 3, competitive advantage 3, time to value 5.
Experience viability 3.8 = user-need fit 4, clear audience 4, motivation vs alternatives 4, low adoption pain 3.
Technical viability 3.8 = skills available 4, integration ease 4, natural extension 4, accuracy / data assurance 3.
Feasibility = average of experience and technical viability = 3.8. Quadrant: Quick win.
Key results marked [x] or [baseline] need SATS figures — use the golden questions: how do you measure it, what is it now, what do you want it to be, what is the value of the difference, and over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49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case 5: Connected GSE and asset utilisation. Proposed BXT scores from the Microsoft team based on SATS Project SPEAR Playback #1 — validate with SATS stakeholders.
Business viability (value) 2.8 = average of revenue 2, efficiency 3, cost reduction 3, competitive advantage 3, time to value 3.
Experience viability 3.5 = user-need fit 3, clear audience 4, motivation vs alternatives 4, low adoption pain 3.
Technical viability 3.3 = skills available 3, integration ease 3, natural extension 4, accuracy / data assurance 3.
Feasibility = average of experience and technical viability = 3.4. Quadrant: Test and learn.
Key results marked [x] or [baseline] need SATS figures — use the golden questions: how do you measure it, what is it now, what do you want it to be, what is the value of the difference, and over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600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 (Innovation Hub business envisioning guide): value = business viability score; feasibility = average of experience viability and technical viability (BXT framework). Quadrants split at 3 on each axis: Quick wins (high value, high feasibility), Invest (high value, lower feasibility), Test and learn (lower value, high feasibility), Parked (both low). All scores are proposals to validate with SATS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070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Recommended sequencing: start with use case 1 (data foundation) and use case 2 (control tower MVP) together, prototype use case 4 (ops copilot) in parallel as a fast visible win, prepare use case 3 (disruption prediction) as the strategic investment once history data is available, and pilot use case 5 (connected GSE) at one 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B76F-0A08-4E6C-9022-52EE202B41E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319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1" i="0">
                <a:solidFill>
                  <a:srgbClr val="091F2C"/>
                </a:solidFill>
                <a:latin typeface="+mj-lt"/>
                <a:cs typeface="Segoe Sans Display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rgbClr val="091F2C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rgbClr val="091F2C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rgbClr val="091F2C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7DBA31-F781-280A-06E8-BF995413A418}"/>
              </a:ext>
            </a:extLst>
          </p:cNvPr>
          <p:cNvSpPr txBox="1"/>
          <p:nvPr userDrawn="1"/>
        </p:nvSpPr>
        <p:spPr>
          <a:xfrm>
            <a:off x="10134749" y="179899"/>
            <a:ext cx="177131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1000">
                <a:solidFill>
                  <a:srgbClr val="D7D2CB"/>
                </a:solidFill>
              </a:rPr>
              <a:t>Microsoft Innovation Hub</a:t>
            </a:r>
            <a:br>
              <a:rPr lang="en-GB" sz="1000">
                <a:solidFill>
                  <a:srgbClr val="D7D2CB"/>
                </a:solidFill>
              </a:rPr>
            </a:br>
            <a:r>
              <a:rPr lang="en-GB" sz="1000">
                <a:solidFill>
                  <a:srgbClr val="D7D2CB"/>
                </a:solidFill>
              </a:rPr>
              <a:t>Microsoft Common Envisioning</a:t>
            </a:r>
          </a:p>
        </p:txBody>
      </p:sp>
    </p:spTree>
    <p:extLst>
      <p:ext uri="{BB962C8B-B14F-4D97-AF65-F5344CB8AC3E}">
        <p14:creationId xmlns:p14="http://schemas.microsoft.com/office/powerpoint/2010/main" val="3466432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1DE6D5-FF91-85A4-E9FC-5084016E9E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72859" y="-8128"/>
            <a:ext cx="1384297" cy="686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3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1" i="0" kern="1200" cap="none" spc="0" baseline="0" dirty="0" smtClean="0">
          <a:ln w="3175">
            <a:noFill/>
          </a:ln>
          <a:solidFill>
            <a:srgbClr val="091F2C"/>
          </a:solidFill>
          <a:effectLst/>
          <a:latin typeface="+mj-lt"/>
          <a:ea typeface="+mn-ea"/>
          <a:cs typeface="Segoe Sans Display Semibold" pitchFamily="2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b="0" i="0" kern="1200" spc="0" baseline="0">
          <a:solidFill>
            <a:srgbClr val="091F2C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b="0" i="0" kern="1200" spc="0" baseline="0">
          <a:solidFill>
            <a:srgbClr val="091F2C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b="0" i="0" kern="1200" spc="0" baseline="0">
          <a:solidFill>
            <a:srgbClr val="091F2C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B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8" name="Picture 8577" descr="Airport apron at dusk with baggage tractors, a wide-body aircraft and an approaching tropical storm">
            <a:extLst>
              <a:ext uri="{FF2B5EF4-FFF2-40B4-BE49-F238E27FC236}">
                <a16:creationId xmlns:a16="http://schemas.microsoft.com/office/drawing/2014/main" id="{63FF5DE3-5FB7-4B70-EDE2-F1110F1F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823" y="0"/>
            <a:ext cx="6092354" cy="6858000"/>
          </a:xfrm>
          <a:prstGeom prst="rect">
            <a:avLst/>
          </a:prstGeom>
        </p:spPr>
      </p:pic>
      <p:pic>
        <p:nvPicPr>
          <p:cNvPr id="8579" name="Picture 8578" descr="SATS logo">
            <a:extLst>
              <a:ext uri="{FF2B5EF4-FFF2-40B4-BE49-F238E27FC236}">
                <a16:creationId xmlns:a16="http://schemas.microsoft.com/office/drawing/2014/main" id="{51597257-71EF-98C2-6859-44BD56BA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0000"/>
            <a:ext cx="731520" cy="731520"/>
          </a:xfrm>
          <a:prstGeom prst="rect">
            <a:avLst/>
          </a:prstGeom>
        </p:spPr>
      </p:pic>
      <p:sp>
        <p:nvSpPr>
          <p:cNvPr id="8582" name="Rectangle 8581">
            <a:extLst>
              <a:ext uri="{FF2B5EF4-FFF2-40B4-BE49-F238E27FC236}">
                <a16:creationId xmlns:a16="http://schemas.microsoft.com/office/drawing/2014/main" id="{47CE179C-55EB-ADC2-2770-5D807188D7EC}"/>
              </a:ext>
            </a:extLst>
          </p:cNvPr>
          <p:cNvSpPr/>
          <p:nvPr/>
        </p:nvSpPr>
        <p:spPr bwMode="auto">
          <a:xfrm>
            <a:off x="640080" y="2300000"/>
            <a:ext cx="5300000" cy="1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SATS</a:t>
            </a:r>
          </a:p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Project SPEAR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594" name="Rectangle 8593">
            <a:extLst>
              <a:ext uri="{FF2B5EF4-FFF2-40B4-BE49-F238E27FC236}">
                <a16:creationId xmlns:a16="http://schemas.microsoft.com/office/drawing/2014/main" id="{F68327D2-0128-9458-53BA-0023FC47436B}"/>
              </a:ext>
            </a:extLst>
          </p:cNvPr>
          <p:cNvSpPr/>
          <p:nvPr/>
        </p:nvSpPr>
        <p:spPr bwMode="auto">
          <a:xfrm>
            <a:off x="640080" y="5150000"/>
            <a:ext cx="5200000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Singapore  ·  [Workshop date]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Draft output for validation with SATS stakeholders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34" name="Rectangle 11233">
            <a:extLst>
              <a:ext uri="{FF2B5EF4-FFF2-40B4-BE49-F238E27FC236}">
                <a16:creationId xmlns:a16="http://schemas.microsoft.com/office/drawing/2014/main" id="{5E4526EA-B012-A96E-06CB-8983911F09C6}"/>
              </a:ext>
            </a:extLst>
          </p:cNvPr>
          <p:cNvSpPr/>
          <p:nvPr/>
        </p:nvSpPr>
        <p:spPr bwMode="auto">
          <a:xfrm>
            <a:off x="640080" y="1900000"/>
            <a:ext cx="535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 spc="100">
                <a:solidFill>
                  <a:srgbClr val="CFE3E5"/>
                </a:solidFill>
                <a:effectLst/>
                <a:latin typeface="Segoe UI Semibold" panose="020B0702040204020203" pitchFamily="34" charset="0"/>
              </a:rPr>
              <a:t>INNOVATION HUB  ·  BUSINESS ENVISIONING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36" name="Rectangle 11235">
            <a:extLst>
              <a:ext uri="{FF2B5EF4-FFF2-40B4-BE49-F238E27FC236}">
                <a16:creationId xmlns:a16="http://schemas.microsoft.com/office/drawing/2014/main" id="{1D1C886A-F8D8-5D4F-A77C-4368A2973FDA}"/>
              </a:ext>
            </a:extLst>
          </p:cNvPr>
          <p:cNvSpPr/>
          <p:nvPr/>
        </p:nvSpPr>
        <p:spPr bwMode="auto">
          <a:xfrm>
            <a:off x="640080" y="3720000"/>
            <a:ext cx="540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AI-powered operations control tower</a:t>
            </a:r>
          </a:p>
          <a:p>
            <a:pPr algn="l">
              <a:buNone/>
            </a:pPr>
            <a:r>
              <a:rPr lang="en-US" sz="16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Use cases, prioritisation and next steps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055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0" name="Rectangle 8599">
            <a:extLst>
              <a:ext uri="{FF2B5EF4-FFF2-40B4-BE49-F238E27FC236}">
                <a16:creationId xmlns:a16="http://schemas.microsoft.com/office/drawing/2014/main" id="{68CD611E-8058-5374-A433-4858EFF6038A}"/>
              </a:ext>
            </a:extLst>
          </p:cNvPr>
          <p:cNvSpPr/>
          <p:nvPr/>
        </p:nvSpPr>
        <p:spPr bwMode="auto">
          <a:xfrm>
            <a:off x="269583" y="150000"/>
            <a:ext cx="9052834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91F2C"/>
                </a:solidFill>
                <a:effectLst/>
                <a:latin typeface="Segoe UI Semibold" panose="020B0702040204020203" pitchFamily="34" charset="0"/>
              </a:rPr>
              <a:t>Workshop agenda and participants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07" name="Rectangle 8606">
            <a:extLst>
              <a:ext uri="{FF2B5EF4-FFF2-40B4-BE49-F238E27FC236}">
                <a16:creationId xmlns:a16="http://schemas.microsoft.com/office/drawing/2014/main" id="{9CB361CB-7BA9-DC68-C350-0A4EBF817EB1}"/>
              </a:ext>
            </a:extLst>
          </p:cNvPr>
          <p:cNvSpPr/>
          <p:nvPr/>
        </p:nvSpPr>
        <p:spPr bwMode="auto">
          <a:xfrm>
            <a:off x="1490475" y="1300000"/>
            <a:ext cx="19050" cy="4560000"/>
          </a:xfrm>
          <a:prstGeom prst="rect">
            <a:avLst/>
          </a:prstGeom>
          <a:solidFill>
            <a:srgbClr val="9FB9BC"/>
          </a:solidFill>
          <a:ln>
            <a:solidFill>
              <a:srgbClr val="9FB9BC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15" name="Rectangle 8614">
            <a:extLst>
              <a:ext uri="{FF2B5EF4-FFF2-40B4-BE49-F238E27FC236}">
                <a16:creationId xmlns:a16="http://schemas.microsoft.com/office/drawing/2014/main" id="{09F6339C-5EA9-76BE-4E27-8191BB29EAE1}"/>
              </a:ext>
            </a:extLst>
          </p:cNvPr>
          <p:cNvSpPr/>
          <p:nvPr/>
        </p:nvSpPr>
        <p:spPr bwMode="auto">
          <a:xfrm>
            <a:off x="269583" y="114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09:00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24" name="Oval 8623">
            <a:extLst>
              <a:ext uri="{FF2B5EF4-FFF2-40B4-BE49-F238E27FC236}">
                <a16:creationId xmlns:a16="http://schemas.microsoft.com/office/drawing/2014/main" id="{448835F8-5335-7C7A-71F3-FC3FBB1D4CC8}"/>
              </a:ext>
            </a:extLst>
          </p:cNvPr>
          <p:cNvSpPr/>
          <p:nvPr/>
        </p:nvSpPr>
        <p:spPr bwMode="auto">
          <a:xfrm>
            <a:off x="1430000" y="132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34" name="Rectangle 8633">
            <a:extLst>
              <a:ext uri="{FF2B5EF4-FFF2-40B4-BE49-F238E27FC236}">
                <a16:creationId xmlns:a16="http://schemas.microsoft.com/office/drawing/2014/main" id="{C8D6EC19-1E5B-BD88-0E32-206A641ABCD6}"/>
              </a:ext>
            </a:extLst>
          </p:cNvPr>
          <p:cNvSpPr/>
          <p:nvPr/>
        </p:nvSpPr>
        <p:spPr bwMode="auto">
          <a:xfrm>
            <a:off x="1700000" y="114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Welcome, objectives and ways of working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45" name="Rectangle 8644">
            <a:extLst>
              <a:ext uri="{FF2B5EF4-FFF2-40B4-BE49-F238E27FC236}">
                <a16:creationId xmlns:a16="http://schemas.microsoft.com/office/drawing/2014/main" id="{B05CB260-6428-CF9D-2BF3-55E8415E735B}"/>
              </a:ext>
            </a:extLst>
          </p:cNvPr>
          <p:cNvSpPr/>
          <p:nvPr/>
        </p:nvSpPr>
        <p:spPr bwMode="auto">
          <a:xfrm>
            <a:off x="269583" y="171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09:20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57" name="Oval 8656">
            <a:extLst>
              <a:ext uri="{FF2B5EF4-FFF2-40B4-BE49-F238E27FC236}">
                <a16:creationId xmlns:a16="http://schemas.microsoft.com/office/drawing/2014/main" id="{2AA21EB0-10D5-B833-5878-B9D92CDE7E9F}"/>
              </a:ext>
            </a:extLst>
          </p:cNvPr>
          <p:cNvSpPr/>
          <p:nvPr/>
        </p:nvSpPr>
        <p:spPr bwMode="auto">
          <a:xfrm>
            <a:off x="1430000" y="189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70" name="Rectangle 8669">
            <a:extLst>
              <a:ext uri="{FF2B5EF4-FFF2-40B4-BE49-F238E27FC236}">
                <a16:creationId xmlns:a16="http://schemas.microsoft.com/office/drawing/2014/main" id="{4A1D7FA6-7494-04A8-0345-C7E86BB17FB1}"/>
              </a:ext>
            </a:extLst>
          </p:cNvPr>
          <p:cNvSpPr/>
          <p:nvPr/>
        </p:nvSpPr>
        <p:spPr bwMode="auto">
          <a:xfrm>
            <a:off x="1700000" y="171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Recap of SPEAR Playback #1: problems and principles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84" name="Rectangle 8683">
            <a:extLst>
              <a:ext uri="{FF2B5EF4-FFF2-40B4-BE49-F238E27FC236}">
                <a16:creationId xmlns:a16="http://schemas.microsoft.com/office/drawing/2014/main" id="{C8935ED7-6AAE-8B65-4361-21851A659B6F}"/>
              </a:ext>
            </a:extLst>
          </p:cNvPr>
          <p:cNvSpPr/>
          <p:nvPr/>
        </p:nvSpPr>
        <p:spPr bwMode="auto">
          <a:xfrm>
            <a:off x="269583" y="228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10:00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699" name="Oval 8698">
            <a:extLst>
              <a:ext uri="{FF2B5EF4-FFF2-40B4-BE49-F238E27FC236}">
                <a16:creationId xmlns:a16="http://schemas.microsoft.com/office/drawing/2014/main" id="{C77639CD-F4D2-C282-20A5-F2FF3D910842}"/>
              </a:ext>
            </a:extLst>
          </p:cNvPr>
          <p:cNvSpPr/>
          <p:nvPr/>
        </p:nvSpPr>
        <p:spPr bwMode="auto">
          <a:xfrm>
            <a:off x="1430000" y="246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15" name="Rectangle 8714">
            <a:extLst>
              <a:ext uri="{FF2B5EF4-FFF2-40B4-BE49-F238E27FC236}">
                <a16:creationId xmlns:a16="http://schemas.microsoft.com/office/drawing/2014/main" id="{5E97AFED-F02E-88B9-9A15-327F832F7929}"/>
              </a:ext>
            </a:extLst>
          </p:cNvPr>
          <p:cNvSpPr/>
          <p:nvPr/>
        </p:nvSpPr>
        <p:spPr bwMode="auto">
          <a:xfrm>
            <a:off x="1700000" y="228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Cover-story exercise: SATS operations in 2028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32" name="Rectangle 8731">
            <a:extLst>
              <a:ext uri="{FF2B5EF4-FFF2-40B4-BE49-F238E27FC236}">
                <a16:creationId xmlns:a16="http://schemas.microsoft.com/office/drawing/2014/main" id="{C94D7C74-20F3-B3FC-EC71-5F4D95CDF6C8}"/>
              </a:ext>
            </a:extLst>
          </p:cNvPr>
          <p:cNvSpPr/>
          <p:nvPr/>
        </p:nvSpPr>
        <p:spPr bwMode="auto">
          <a:xfrm>
            <a:off x="269583" y="285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11:00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50" name="Oval 8749">
            <a:extLst>
              <a:ext uri="{FF2B5EF4-FFF2-40B4-BE49-F238E27FC236}">
                <a16:creationId xmlns:a16="http://schemas.microsoft.com/office/drawing/2014/main" id="{408DB487-B5DE-63CA-8727-A2695C793D73}"/>
              </a:ext>
            </a:extLst>
          </p:cNvPr>
          <p:cNvSpPr/>
          <p:nvPr/>
        </p:nvSpPr>
        <p:spPr bwMode="auto">
          <a:xfrm>
            <a:off x="1430000" y="303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69" name="Rectangle 8768">
            <a:extLst>
              <a:ext uri="{FF2B5EF4-FFF2-40B4-BE49-F238E27FC236}">
                <a16:creationId xmlns:a16="http://schemas.microsoft.com/office/drawing/2014/main" id="{333D76BB-4241-4BD6-21B6-58BCAD04D568}"/>
              </a:ext>
            </a:extLst>
          </p:cNvPr>
          <p:cNvSpPr/>
          <p:nvPr/>
        </p:nvSpPr>
        <p:spPr bwMode="auto">
          <a:xfrm>
            <a:off x="1700000" y="285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Develop five business use cases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789" name="Rectangle 8788">
            <a:extLst>
              <a:ext uri="{FF2B5EF4-FFF2-40B4-BE49-F238E27FC236}">
                <a16:creationId xmlns:a16="http://schemas.microsoft.com/office/drawing/2014/main" id="{5876DAE8-EA73-A420-95E4-014B857C1893}"/>
              </a:ext>
            </a:extLst>
          </p:cNvPr>
          <p:cNvSpPr/>
          <p:nvPr/>
        </p:nvSpPr>
        <p:spPr bwMode="auto">
          <a:xfrm>
            <a:off x="269583" y="342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12:30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10" name="Oval 8809">
            <a:extLst>
              <a:ext uri="{FF2B5EF4-FFF2-40B4-BE49-F238E27FC236}">
                <a16:creationId xmlns:a16="http://schemas.microsoft.com/office/drawing/2014/main" id="{281B0AC4-53A8-60B2-B33A-1E0963EF7EDE}"/>
              </a:ext>
            </a:extLst>
          </p:cNvPr>
          <p:cNvSpPr/>
          <p:nvPr/>
        </p:nvSpPr>
        <p:spPr bwMode="auto">
          <a:xfrm>
            <a:off x="1430000" y="3603000"/>
            <a:ext cx="140000" cy="140000"/>
          </a:xfrm>
          <a:prstGeom prst="ellipse">
            <a:avLst/>
          </a:prstGeom>
          <a:solidFill>
            <a:srgbClr val="FFF8F3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32" name="Rectangle 8831">
            <a:extLst>
              <a:ext uri="{FF2B5EF4-FFF2-40B4-BE49-F238E27FC236}">
                <a16:creationId xmlns:a16="http://schemas.microsoft.com/office/drawing/2014/main" id="{47D37053-9ED4-853C-DD10-B54B9957B6DC}"/>
              </a:ext>
            </a:extLst>
          </p:cNvPr>
          <p:cNvSpPr/>
          <p:nvPr/>
        </p:nvSpPr>
        <p:spPr bwMode="auto">
          <a:xfrm>
            <a:off x="1700000" y="342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Lunch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55" name="Rectangle 8854">
            <a:extLst>
              <a:ext uri="{FF2B5EF4-FFF2-40B4-BE49-F238E27FC236}">
                <a16:creationId xmlns:a16="http://schemas.microsoft.com/office/drawing/2014/main" id="{719D9A8E-EE57-922A-89EB-BC15F037F125}"/>
              </a:ext>
            </a:extLst>
          </p:cNvPr>
          <p:cNvSpPr/>
          <p:nvPr/>
        </p:nvSpPr>
        <p:spPr bwMode="auto">
          <a:xfrm>
            <a:off x="269583" y="399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13:15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79" name="Oval 8878">
            <a:extLst>
              <a:ext uri="{FF2B5EF4-FFF2-40B4-BE49-F238E27FC236}">
                <a16:creationId xmlns:a16="http://schemas.microsoft.com/office/drawing/2014/main" id="{E60EB401-8F71-548A-1167-F740A0E12CB2}"/>
              </a:ext>
            </a:extLst>
          </p:cNvPr>
          <p:cNvSpPr/>
          <p:nvPr/>
        </p:nvSpPr>
        <p:spPr bwMode="auto">
          <a:xfrm>
            <a:off x="1430000" y="417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04" name="Rectangle 8903">
            <a:extLst>
              <a:ext uri="{FF2B5EF4-FFF2-40B4-BE49-F238E27FC236}">
                <a16:creationId xmlns:a16="http://schemas.microsoft.com/office/drawing/2014/main" id="{A9A7BDC4-B2DE-7D58-E41D-89342AB1A1E0}"/>
              </a:ext>
            </a:extLst>
          </p:cNvPr>
          <p:cNvSpPr/>
          <p:nvPr/>
        </p:nvSpPr>
        <p:spPr bwMode="auto">
          <a:xfrm>
            <a:off x="1700000" y="399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and feasibility scoring (BXT)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30" name="Rectangle 8929">
            <a:extLst>
              <a:ext uri="{FF2B5EF4-FFF2-40B4-BE49-F238E27FC236}">
                <a16:creationId xmlns:a16="http://schemas.microsoft.com/office/drawing/2014/main" id="{5C61C33C-EAC4-FF6A-CFDA-8F983EDBBC8D}"/>
              </a:ext>
            </a:extLst>
          </p:cNvPr>
          <p:cNvSpPr/>
          <p:nvPr/>
        </p:nvSpPr>
        <p:spPr bwMode="auto">
          <a:xfrm>
            <a:off x="269583" y="456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14:30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57" name="Oval 8956">
            <a:extLst>
              <a:ext uri="{FF2B5EF4-FFF2-40B4-BE49-F238E27FC236}">
                <a16:creationId xmlns:a16="http://schemas.microsoft.com/office/drawing/2014/main" id="{B2D6A9F4-6559-10D6-7491-044AD9F17735}"/>
              </a:ext>
            </a:extLst>
          </p:cNvPr>
          <p:cNvSpPr/>
          <p:nvPr/>
        </p:nvSpPr>
        <p:spPr bwMode="auto">
          <a:xfrm>
            <a:off x="1430000" y="474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85" name="Rectangle 8984">
            <a:extLst>
              <a:ext uri="{FF2B5EF4-FFF2-40B4-BE49-F238E27FC236}">
                <a16:creationId xmlns:a16="http://schemas.microsoft.com/office/drawing/2014/main" id="{2282FA23-2E2D-DC24-7BEC-C1022FB33BD3}"/>
              </a:ext>
            </a:extLst>
          </p:cNvPr>
          <p:cNvSpPr/>
          <p:nvPr/>
        </p:nvSpPr>
        <p:spPr bwMode="auto">
          <a:xfrm>
            <a:off x="1700000" y="456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Prioritisation matrix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14" name="Rectangle 9013">
            <a:extLst>
              <a:ext uri="{FF2B5EF4-FFF2-40B4-BE49-F238E27FC236}">
                <a16:creationId xmlns:a16="http://schemas.microsoft.com/office/drawing/2014/main" id="{871B3C7A-596F-262F-85BE-54C460ED7105}"/>
              </a:ext>
            </a:extLst>
          </p:cNvPr>
          <p:cNvSpPr/>
          <p:nvPr/>
        </p:nvSpPr>
        <p:spPr bwMode="auto">
          <a:xfrm>
            <a:off x="269583" y="513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15:15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44" name="Oval 9043">
            <a:extLst>
              <a:ext uri="{FF2B5EF4-FFF2-40B4-BE49-F238E27FC236}">
                <a16:creationId xmlns:a16="http://schemas.microsoft.com/office/drawing/2014/main" id="{AB1F7059-294D-070E-C8E4-2E7D394C5570}"/>
              </a:ext>
            </a:extLst>
          </p:cNvPr>
          <p:cNvSpPr/>
          <p:nvPr/>
        </p:nvSpPr>
        <p:spPr bwMode="auto">
          <a:xfrm>
            <a:off x="1430000" y="531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075" name="Rectangle 9074">
            <a:extLst>
              <a:ext uri="{FF2B5EF4-FFF2-40B4-BE49-F238E27FC236}">
                <a16:creationId xmlns:a16="http://schemas.microsoft.com/office/drawing/2014/main" id="{1E116AB9-AC65-A5DE-60DB-1302E087096F}"/>
              </a:ext>
            </a:extLst>
          </p:cNvPr>
          <p:cNvSpPr/>
          <p:nvPr/>
        </p:nvSpPr>
        <p:spPr bwMode="auto">
          <a:xfrm>
            <a:off x="1700000" y="513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Parking lot, next steps, owners and dates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07" name="Rectangle 9106">
            <a:extLst>
              <a:ext uri="{FF2B5EF4-FFF2-40B4-BE49-F238E27FC236}">
                <a16:creationId xmlns:a16="http://schemas.microsoft.com/office/drawing/2014/main" id="{F2D84DA0-2016-F126-7B37-0FA69EDF1CAA}"/>
              </a:ext>
            </a:extLst>
          </p:cNvPr>
          <p:cNvSpPr/>
          <p:nvPr/>
        </p:nvSpPr>
        <p:spPr bwMode="auto">
          <a:xfrm>
            <a:off x="269583" y="5700000"/>
            <a:ext cx="11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buNone/>
            </a:pPr>
            <a:r>
              <a:rPr lang="en-US" sz="14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15:45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40" name="Oval 9139">
            <a:extLst>
              <a:ext uri="{FF2B5EF4-FFF2-40B4-BE49-F238E27FC236}">
                <a16:creationId xmlns:a16="http://schemas.microsoft.com/office/drawing/2014/main" id="{5D59DF93-4874-86D0-7CF2-A1C6E468DFBA}"/>
              </a:ext>
            </a:extLst>
          </p:cNvPr>
          <p:cNvSpPr/>
          <p:nvPr/>
        </p:nvSpPr>
        <p:spPr bwMode="auto">
          <a:xfrm>
            <a:off x="1430000" y="5883000"/>
            <a:ext cx="140000" cy="140000"/>
          </a:xfrm>
          <a:prstGeom prst="ellipse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74" name="Rectangle 9173">
            <a:extLst>
              <a:ext uri="{FF2B5EF4-FFF2-40B4-BE49-F238E27FC236}">
                <a16:creationId xmlns:a16="http://schemas.microsoft.com/office/drawing/2014/main" id="{52D85A65-9A78-DB1F-35F6-5C78A8A03837}"/>
              </a:ext>
            </a:extLst>
          </p:cNvPr>
          <p:cNvSpPr/>
          <p:nvPr/>
        </p:nvSpPr>
        <p:spPr bwMode="auto">
          <a:xfrm>
            <a:off x="1700000" y="5700000"/>
            <a:ext cx="5000000" cy="4684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Close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209" name="Rectangle 9208">
            <a:extLst>
              <a:ext uri="{FF2B5EF4-FFF2-40B4-BE49-F238E27FC236}">
                <a16:creationId xmlns:a16="http://schemas.microsoft.com/office/drawing/2014/main" id="{0590B146-F471-B580-16E8-06C44FE05563}"/>
              </a:ext>
            </a:extLst>
          </p:cNvPr>
          <p:cNvSpPr/>
          <p:nvPr/>
        </p:nvSpPr>
        <p:spPr bwMode="auto">
          <a:xfrm>
            <a:off x="6900000" y="3700000"/>
            <a:ext cx="5022000" cy="2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F5CCC8DA-0A3D-1C1F-0CF4-A3BC184A200D}"/>
              </a:ext>
            </a:extLst>
          </p:cNvPr>
          <p:cNvSpPr/>
          <p:nvPr/>
        </p:nvSpPr>
        <p:spPr bwMode="auto">
          <a:xfrm>
            <a:off x="6990000" y="4102905"/>
            <a:ext cx="4842000" cy="177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Who took part</a:t>
            </a:r>
          </a:p>
          <a:p>
            <a:pPr algn="l">
              <a:buNone/>
            </a:pPr>
            <a:r>
              <a:rPr lang="en-US" sz="6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SATS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COO · Control Tower Lead (SIOC) · Customer Service Lead · Fleet / Asset Lead · Data Lead</a:t>
            </a:r>
          </a:p>
          <a:p>
            <a:pPr algn="l">
              <a:buNone/>
            </a:pPr>
            <a:r>
              <a:rPr lang="en-US" sz="6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Innovation Hub Technical Architect · Account Executive · CSAM · Data &amp; AI specialist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282" name="Rectangle 9281">
            <a:extLst>
              <a:ext uri="{FF2B5EF4-FFF2-40B4-BE49-F238E27FC236}">
                <a16:creationId xmlns:a16="http://schemas.microsoft.com/office/drawing/2014/main" id="{351D3861-9BB0-8A47-03B0-E019E3E1B8D0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Proposed agenda and roles — update with actual timings and attendee names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233" name="Picture 11232" descr="Illustrative ground-operations control centre with live apron map and storm radar">
            <a:extLst>
              <a:ext uri="{FF2B5EF4-FFF2-40B4-BE49-F238E27FC236}">
                <a16:creationId xmlns:a16="http://schemas.microsoft.com/office/drawing/2014/main" id="{A181BB3F-F5B9-EE02-0801-38CC21FB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0" y="1100560"/>
            <a:ext cx="5022000" cy="24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936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0" name="Rectangle 9319">
            <a:extLst>
              <a:ext uri="{FF2B5EF4-FFF2-40B4-BE49-F238E27FC236}">
                <a16:creationId xmlns:a16="http://schemas.microsoft.com/office/drawing/2014/main" id="{4D36C95C-F2C2-7FFE-1BA9-263211BE0B76}"/>
              </a:ext>
            </a:extLst>
          </p:cNvPr>
          <p:cNvSpPr/>
          <p:nvPr/>
        </p:nvSpPr>
        <p:spPr bwMode="auto">
          <a:xfrm>
            <a:off x="269583" y="150000"/>
            <a:ext cx="9052834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91F2C"/>
                </a:solidFill>
                <a:effectLst/>
                <a:latin typeface="Segoe UI Semibold" panose="020B0702040204020203" pitchFamily="34" charset="0"/>
              </a:rPr>
              <a:t>Why SATS needs an operations control tower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359" name="Rectangle 9358">
            <a:extLst>
              <a:ext uri="{FF2B5EF4-FFF2-40B4-BE49-F238E27FC236}">
                <a16:creationId xmlns:a16="http://schemas.microsoft.com/office/drawing/2014/main" id="{A22D31DF-2E8F-8A9E-9C73-9C3FCD4627BC}"/>
              </a:ext>
            </a:extLst>
          </p:cNvPr>
          <p:cNvSpPr/>
          <p:nvPr/>
        </p:nvSpPr>
        <p:spPr bwMode="auto">
          <a:xfrm>
            <a:off x="269583" y="780000"/>
            <a:ext cx="68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 spc="100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PROJECT SPEAR PROBLEM STATEMENTS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399" name="Rectangle 9398">
            <a:extLst>
              <a:ext uri="{FF2B5EF4-FFF2-40B4-BE49-F238E27FC236}">
                <a16:creationId xmlns:a16="http://schemas.microsoft.com/office/drawing/2014/main" id="{E8C22C4E-BE71-BD68-256E-CCF6C0F60138}"/>
              </a:ext>
            </a:extLst>
          </p:cNvPr>
          <p:cNvSpPr/>
          <p:nvPr/>
        </p:nvSpPr>
        <p:spPr bwMode="auto">
          <a:xfrm>
            <a:off x="269583" y="1180000"/>
            <a:ext cx="69000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525" name="Rectangle 9524">
            <a:extLst>
              <a:ext uri="{FF2B5EF4-FFF2-40B4-BE49-F238E27FC236}">
                <a16:creationId xmlns:a16="http://schemas.microsoft.com/office/drawing/2014/main" id="{F35042EF-B66A-B192-43BF-E9B362B9F842}"/>
              </a:ext>
            </a:extLst>
          </p:cNvPr>
          <p:cNvSpPr/>
          <p:nvPr/>
        </p:nvSpPr>
        <p:spPr bwMode="auto">
          <a:xfrm>
            <a:off x="269583" y="2080000"/>
            <a:ext cx="69000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614" name="Rectangle 9613">
            <a:extLst>
              <a:ext uri="{FF2B5EF4-FFF2-40B4-BE49-F238E27FC236}">
                <a16:creationId xmlns:a16="http://schemas.microsoft.com/office/drawing/2014/main" id="{78272ACD-D41C-E7EC-56DF-E2B983E58F56}"/>
              </a:ext>
            </a:extLst>
          </p:cNvPr>
          <p:cNvSpPr/>
          <p:nvPr/>
        </p:nvSpPr>
        <p:spPr bwMode="auto">
          <a:xfrm>
            <a:off x="1189583" y="2201155"/>
            <a:ext cx="5900000" cy="567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Insufficient manpower to meet future demand</a:t>
            </a:r>
          </a:p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Volumes grow faster than the workforce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660" name="Rectangle 9659">
            <a:extLst>
              <a:ext uri="{FF2B5EF4-FFF2-40B4-BE49-F238E27FC236}">
                <a16:creationId xmlns:a16="http://schemas.microsoft.com/office/drawing/2014/main" id="{EB9168DC-801D-7B4A-C25F-A373EFC77C89}"/>
              </a:ext>
            </a:extLst>
          </p:cNvPr>
          <p:cNvSpPr/>
          <p:nvPr/>
        </p:nvSpPr>
        <p:spPr bwMode="auto">
          <a:xfrm>
            <a:off x="269583" y="2980000"/>
            <a:ext cx="69000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755" name="Rectangle 9754">
            <a:extLst>
              <a:ext uri="{FF2B5EF4-FFF2-40B4-BE49-F238E27FC236}">
                <a16:creationId xmlns:a16="http://schemas.microsoft.com/office/drawing/2014/main" id="{6F18850D-7A5A-2BBA-5F95-31B79BAB7B88}"/>
              </a:ext>
            </a:extLst>
          </p:cNvPr>
          <p:cNvSpPr/>
          <p:nvPr/>
        </p:nvSpPr>
        <p:spPr bwMode="auto">
          <a:xfrm>
            <a:off x="1189583" y="3101155"/>
            <a:ext cx="5900000" cy="567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Cost and time pressures</a:t>
            </a:r>
          </a:p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Overtime, delays and SLA penalties during disruption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804" name="Rectangle 9803">
            <a:extLst>
              <a:ext uri="{FF2B5EF4-FFF2-40B4-BE49-F238E27FC236}">
                <a16:creationId xmlns:a16="http://schemas.microsoft.com/office/drawing/2014/main" id="{6CF66F2E-7A9A-F1EE-8821-B8996197B263}"/>
              </a:ext>
            </a:extLst>
          </p:cNvPr>
          <p:cNvSpPr/>
          <p:nvPr/>
        </p:nvSpPr>
        <p:spPr bwMode="auto">
          <a:xfrm>
            <a:off x="269583" y="3880000"/>
            <a:ext cx="69000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957" name="Rectangle 9956">
            <a:extLst>
              <a:ext uri="{FF2B5EF4-FFF2-40B4-BE49-F238E27FC236}">
                <a16:creationId xmlns:a16="http://schemas.microsoft.com/office/drawing/2014/main" id="{921FC472-6952-DBBB-879E-DB91057371A7}"/>
              </a:ext>
            </a:extLst>
          </p:cNvPr>
          <p:cNvSpPr/>
          <p:nvPr/>
        </p:nvSpPr>
        <p:spPr bwMode="auto">
          <a:xfrm>
            <a:off x="269583" y="4780000"/>
            <a:ext cx="6900000" cy="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064" name="Rectangle 10063">
            <a:extLst>
              <a:ext uri="{FF2B5EF4-FFF2-40B4-BE49-F238E27FC236}">
                <a16:creationId xmlns:a16="http://schemas.microsoft.com/office/drawing/2014/main" id="{64CDE37D-4608-040D-491C-AD594BC0BEBA}"/>
              </a:ext>
            </a:extLst>
          </p:cNvPr>
          <p:cNvSpPr/>
          <p:nvPr/>
        </p:nvSpPr>
        <p:spPr bwMode="auto">
          <a:xfrm>
            <a:off x="1189583" y="4901155"/>
            <a:ext cx="5900000" cy="567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Meeting stakeholders’ expectations</a:t>
            </a:r>
          </a:p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Airlines, CAG and passengers expect proactive updates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119" name="Rectangle 10118">
            <a:extLst>
              <a:ext uri="{FF2B5EF4-FFF2-40B4-BE49-F238E27FC236}">
                <a16:creationId xmlns:a16="http://schemas.microsoft.com/office/drawing/2014/main" id="{8F592318-9C0B-9C76-2D9C-D758EC6D28AC}"/>
              </a:ext>
            </a:extLst>
          </p:cNvPr>
          <p:cNvSpPr/>
          <p:nvPr/>
        </p:nvSpPr>
        <p:spPr bwMode="auto">
          <a:xfrm>
            <a:off x="7400000" y="1180000"/>
            <a:ext cx="4522417" cy="2400000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175" name="Rectangle 10174">
            <a:extLst>
              <a:ext uri="{FF2B5EF4-FFF2-40B4-BE49-F238E27FC236}">
                <a16:creationId xmlns:a16="http://schemas.microsoft.com/office/drawing/2014/main" id="{FA06803A-9A5C-349B-F97F-EE3C7ECA0420}"/>
              </a:ext>
            </a:extLst>
          </p:cNvPr>
          <p:cNvSpPr/>
          <p:nvPr/>
        </p:nvSpPr>
        <p:spPr bwMode="auto">
          <a:xfrm>
            <a:off x="7500000" y="1572280"/>
            <a:ext cx="4322417" cy="1615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GUIDING PRINCIPLES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How to improve upon “Great”?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  Evolutionary, not revolutionary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  Analytics-driven operations and decision making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•  Surround, not replace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232" name="Rectangle 10231">
            <a:extLst>
              <a:ext uri="{FF2B5EF4-FFF2-40B4-BE49-F238E27FC236}">
                <a16:creationId xmlns:a16="http://schemas.microsoft.com/office/drawing/2014/main" id="{378D0B39-4B4C-A00E-4666-ADA443DA64FD}"/>
              </a:ext>
            </a:extLst>
          </p:cNvPr>
          <p:cNvSpPr/>
          <p:nvPr/>
        </p:nvSpPr>
        <p:spPr bwMode="auto">
          <a:xfrm>
            <a:off x="7400000" y="3690000"/>
            <a:ext cx="4522417" cy="2400000"/>
          </a:xfrm>
          <a:prstGeom prst="rect">
            <a:avLst/>
          </a:prstGeom>
          <a:solidFill>
            <a:srgbClr val="E3EEEF"/>
          </a:solidFill>
          <a:ln w="9525">
            <a:solidFill>
              <a:srgbClr val="E3EEE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290" name="Rectangle 10289">
            <a:extLst>
              <a:ext uri="{FF2B5EF4-FFF2-40B4-BE49-F238E27FC236}">
                <a16:creationId xmlns:a16="http://schemas.microsoft.com/office/drawing/2014/main" id="{F61BF966-1D20-8946-4FCB-F90FCE242971}"/>
              </a:ext>
            </a:extLst>
          </p:cNvPr>
          <p:cNvSpPr/>
          <p:nvPr/>
        </p:nvSpPr>
        <p:spPr bwMode="auto">
          <a:xfrm>
            <a:off x="7500000" y="4034655"/>
            <a:ext cx="4322417" cy="1710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WORKSHOP MISSION</a:t>
            </a:r>
          </a:p>
          <a:p>
            <a:pPr algn="l">
              <a:buNone/>
            </a:pPr>
            <a:r>
              <a:rPr lang="en-US" sz="6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Shape an engagement around an AI-powered operations control tower: one real-time view of demand, capacity, assets, exceptions and customer impact — moving decisions from manual and reactive to predictive and proactive.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349" name="Rectangle 10348">
            <a:extLst>
              <a:ext uri="{FF2B5EF4-FFF2-40B4-BE49-F238E27FC236}">
                <a16:creationId xmlns:a16="http://schemas.microsoft.com/office/drawing/2014/main" id="{D60D86C8-E55F-FC70-945D-2A63C22254E0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Source: SATS Project SPEAR — Future of Ground Handling, Playback #1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39" name="Rectangle 11238">
            <a:extLst>
              <a:ext uri="{FF2B5EF4-FFF2-40B4-BE49-F238E27FC236}">
                <a16:creationId xmlns:a16="http://schemas.microsoft.com/office/drawing/2014/main" id="{7A049B54-9CA6-1BC4-333A-B4E494525D35}"/>
              </a:ext>
            </a:extLst>
          </p:cNvPr>
          <p:cNvSpPr/>
          <p:nvPr/>
        </p:nvSpPr>
        <p:spPr bwMode="auto">
          <a:xfrm>
            <a:off x="329583" y="1305000"/>
            <a:ext cx="88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43" name="Rectangle 11242">
            <a:extLst>
              <a:ext uri="{FF2B5EF4-FFF2-40B4-BE49-F238E27FC236}">
                <a16:creationId xmlns:a16="http://schemas.microsoft.com/office/drawing/2014/main" id="{4BCB8588-3E55-8FB5-9A4D-60DB14D2E90F}"/>
              </a:ext>
            </a:extLst>
          </p:cNvPr>
          <p:cNvSpPr/>
          <p:nvPr/>
        </p:nvSpPr>
        <p:spPr bwMode="auto">
          <a:xfrm>
            <a:off x="329583" y="2205000"/>
            <a:ext cx="88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48" name="Rectangle 11247">
            <a:extLst>
              <a:ext uri="{FF2B5EF4-FFF2-40B4-BE49-F238E27FC236}">
                <a16:creationId xmlns:a16="http://schemas.microsoft.com/office/drawing/2014/main" id="{DCB5669D-BB2D-EBC6-25FE-E2C9CFD52C4B}"/>
              </a:ext>
            </a:extLst>
          </p:cNvPr>
          <p:cNvSpPr/>
          <p:nvPr/>
        </p:nvSpPr>
        <p:spPr bwMode="auto">
          <a:xfrm>
            <a:off x="329583" y="3105000"/>
            <a:ext cx="88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54" name="Rectangle 11253">
            <a:extLst>
              <a:ext uri="{FF2B5EF4-FFF2-40B4-BE49-F238E27FC236}">
                <a16:creationId xmlns:a16="http://schemas.microsoft.com/office/drawing/2014/main" id="{1D432A6B-EDA0-2EAF-88E3-144A0A67C089}"/>
              </a:ext>
            </a:extLst>
          </p:cNvPr>
          <p:cNvSpPr/>
          <p:nvPr/>
        </p:nvSpPr>
        <p:spPr bwMode="auto">
          <a:xfrm>
            <a:off x="329583" y="4005000"/>
            <a:ext cx="88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61" name="Rectangle 11260">
            <a:extLst>
              <a:ext uri="{FF2B5EF4-FFF2-40B4-BE49-F238E27FC236}">
                <a16:creationId xmlns:a16="http://schemas.microsoft.com/office/drawing/2014/main" id="{231415F3-D89F-A942-0E85-60D48B332C5F}"/>
              </a:ext>
            </a:extLst>
          </p:cNvPr>
          <p:cNvSpPr/>
          <p:nvPr/>
        </p:nvSpPr>
        <p:spPr bwMode="auto">
          <a:xfrm>
            <a:off x="329583" y="4905000"/>
            <a:ext cx="88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25B62"/>
                </a:solidFill>
                <a:effectLst/>
                <a:latin typeface="Segoe UI Semibold" panose="020B0702040204020203" pitchFamily="34" charset="0"/>
              </a:rPr>
              <a:t>05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69" name="Rectangle 11268">
            <a:extLst>
              <a:ext uri="{FF2B5EF4-FFF2-40B4-BE49-F238E27FC236}">
                <a16:creationId xmlns:a16="http://schemas.microsoft.com/office/drawing/2014/main" id="{2430E38A-A6F9-29AB-493E-96F861A05816}"/>
              </a:ext>
            </a:extLst>
          </p:cNvPr>
          <p:cNvSpPr/>
          <p:nvPr/>
        </p:nvSpPr>
        <p:spPr bwMode="auto">
          <a:xfrm>
            <a:off x="1189583" y="4001155"/>
            <a:ext cx="5900000" cy="567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Throughput with infrastructure constraints</a:t>
            </a:r>
          </a:p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More flights through the same apron, bays and fleet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592" name="Rectangle 11591">
            <a:extLst>
              <a:ext uri="{FF2B5EF4-FFF2-40B4-BE49-F238E27FC236}">
                <a16:creationId xmlns:a16="http://schemas.microsoft.com/office/drawing/2014/main" id="{873DF252-E3A4-9333-980E-F5B8124F7A66}"/>
              </a:ext>
            </a:extLst>
          </p:cNvPr>
          <p:cNvSpPr/>
          <p:nvPr/>
        </p:nvSpPr>
        <p:spPr bwMode="auto">
          <a:xfrm>
            <a:off x="1189583" y="1301155"/>
            <a:ext cx="5900000" cy="567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Ageing workforce, yet reliant on experience</a:t>
            </a:r>
          </a:p>
          <a:p>
            <a:pPr algn="l">
              <a:buNone/>
            </a:pPr>
            <a:r>
              <a:rPr lang="en-US" sz="14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Know-how sits with a few experienced controllers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169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9" name="Rectangle 10408">
            <a:extLst>
              <a:ext uri="{FF2B5EF4-FFF2-40B4-BE49-F238E27FC236}">
                <a16:creationId xmlns:a16="http://schemas.microsoft.com/office/drawing/2014/main" id="{02DB1633-15CF-6986-CE49-5A098952AAB1}"/>
              </a:ext>
            </a:extLst>
          </p:cNvPr>
          <p:cNvSpPr/>
          <p:nvPr/>
        </p:nvSpPr>
        <p:spPr bwMode="auto">
          <a:xfrm>
            <a:off x="269583" y="150000"/>
            <a:ext cx="9052834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91F2C"/>
                </a:solidFill>
                <a:effectLst/>
                <a:latin typeface="Segoe UI Semibold" panose="020B0702040204020203" pitchFamily="34" charset="0"/>
              </a:rPr>
              <a:t>Five use cases answer SPEAR’s questions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471" name="Rectangle 10470">
            <a:extLst>
              <a:ext uri="{FF2B5EF4-FFF2-40B4-BE49-F238E27FC236}">
                <a16:creationId xmlns:a16="http://schemas.microsoft.com/office/drawing/2014/main" id="{550AAB76-6866-29E3-ABEA-C8080C38EE50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SPEAR questions from “Reframing the problem statements”, SATS Project SPEAR Playback #1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C7C090-0C79-4AB8-AF7F-16B47DB51718}"/>
              </a:ext>
            </a:extLst>
          </p:cNvPr>
          <p:cNvGraphicFramePr>
            <a:graphicFrameLocks noGrp="1"/>
          </p:cNvGraphicFramePr>
          <p:nvPr/>
        </p:nvGraphicFramePr>
        <p:xfrm>
          <a:off x="269583" y="800000"/>
          <a:ext cx="8128000" cy="4206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23016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61307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30082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6633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SPEAR question it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Lead stakeholder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Microsoft solution theme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601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1. Unified operational data foundation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How to get better at sensing — all systems write to and read from EDH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Data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Fabric operational data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638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2. AI operations control tower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How to improve communication and transparency between SIOC, BU Ops and Ground 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Control Tower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Power BI control tower + Teams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0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 Disruption prediction and recovery optimiser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How to better react to emergent events, e.g. flight delays and inclement weather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Azure AI disruption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89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 Operations copilot and proactive customer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How to report better, faster, easier — templated, auto-summary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Customer Service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Copilot Studio operations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91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5. Connected GSE and asset utilisation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How to get better at sensing — IIoT and asset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Fleet / Asset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Fabric Real-Time Intelligence + Azure IoT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959406"/>
                  </a:ext>
                </a:extLst>
              </a:tr>
            </a:tbl>
          </a:graphicData>
        </a:graphic>
      </p:graphicFrame>
      <p:pic>
        <p:nvPicPr>
          <p:cNvPr id="11591" name="Picture 11590" descr="Airport apron with ground support equipment and an approaching storm">
            <a:extLst>
              <a:ext uri="{FF2B5EF4-FFF2-40B4-BE49-F238E27FC236}">
                <a16:creationId xmlns:a16="http://schemas.microsoft.com/office/drawing/2014/main" id="{A378C90C-9814-6BEC-3C8D-BF9C5BF5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076" y="800000"/>
            <a:ext cx="3342265" cy="5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312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878D-57CE-2B2F-B9CA-82ABD943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8A1D9F9D-9AD0-D527-110F-8427FDBC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Unified operational data foundation</a:t>
            </a:r>
          </a:p>
        </p:txBody>
      </p:sp>
      <p:sp>
        <p:nvSpPr>
          <p:cNvPr id="23" name="Donut 7">
            <a:extLst>
              <a:ext uri="{FF2B5EF4-FFF2-40B4-BE49-F238E27FC236}">
                <a16:creationId xmlns:a16="http://schemas.microsoft.com/office/drawing/2014/main" id="{4A25D611-53D7-921E-25EC-8C7F84CED339}"/>
              </a:ext>
            </a:extLst>
          </p:cNvPr>
          <p:cNvSpPr/>
          <p:nvPr/>
        </p:nvSpPr>
        <p:spPr bwMode="auto">
          <a:xfrm>
            <a:off x="265793" y="702439"/>
            <a:ext cx="11684937" cy="296744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34A27BE-53D4-AF0C-AD8B-2969F4EB4BB7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" pitchFamily="34" charset="0"/>
              </a:rPr>
              <a:t>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93FB3A-E7A2-E412-4369-52DC634ADBAE}"/>
              </a:ext>
            </a:extLst>
          </p:cNvPr>
          <p:cNvSpPr/>
          <p:nvPr/>
        </p:nvSpPr>
        <p:spPr bwMode="auto">
          <a:xfrm>
            <a:off x="265792" y="1069903"/>
            <a:ext cx="5803025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8FBCD4F-6C3B-87EF-DAD0-8DB3DBB6F347}"/>
              </a:ext>
            </a:extLst>
          </p:cNvPr>
          <p:cNvSpPr/>
          <p:nvPr/>
        </p:nvSpPr>
        <p:spPr bwMode="auto">
          <a:xfrm>
            <a:off x="325792" y="1159903"/>
            <a:ext cx="5683025" cy="4409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Problem to solve / opportunity to realise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THE CHALLENGE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Ops data is spread across GroundStar, G-Ops, Mosaic, DSM, iFleet, BRS and TOMS, plus CAG and airline feeds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No single, real-time view of demand, capacity, assets and exceptions across SIOC, BU Ops and Ground Ops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Analog processes (radio, WhatsApp, paper) leave gaps in the data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IS SOLVED TODAY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Point-to-point interfaces; EDH / DataNexus being established as the hub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Duty managers consolidate data manually for decisions and reports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RISK OF DOING NOTHING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Every new AI or dashboard initiative rebuilds its own integrations — slower, costlier and inconsistent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49C044D-2A6A-9D18-C22E-58151607FDE2}"/>
              </a:ext>
            </a:extLst>
          </p:cNvPr>
          <p:cNvSpPr/>
          <p:nvPr/>
        </p:nvSpPr>
        <p:spPr bwMode="auto">
          <a:xfrm>
            <a:off x="6147706" y="1069904"/>
            <a:ext cx="5803024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0359BF-FEB4-6EE9-11FC-49EC9B6D8926}"/>
              </a:ext>
            </a:extLst>
          </p:cNvPr>
          <p:cNvSpPr/>
          <p:nvPr/>
        </p:nvSpPr>
        <p:spPr bwMode="auto">
          <a:xfrm>
            <a:off x="6207706" y="1159904"/>
            <a:ext cx="5683024" cy="5266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What is your idea?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USE CASE DESCRIPTION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Extend EDH / DataNexus with Microsoft Fabric as the real-time operational data platform: every system writes to and reads from one governed OneLake, with streaming events for flights, tasks, assets and weather.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WORKS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Eventstreams ingest flight, turnaround, task, GSE and weather events in seconds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One common data model: flight – turnaround – task – asset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Shortcuts and mirroring to existing EDH stores — no rip-and-replace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Governance, lineage and access by BU with Microsoft Purview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 SOLUTION COMPONENTS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Microsoft Fabric (Real-Time Intelligence, OneLake, Data Factory), Microsoft Purview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DATA AND SYSTEMS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GroundStar, G-Ops, Mosaic, DSM, iFleet, BRS, TOMS, CAG turnaround events, airline CPM, weather service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1539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4C28-AB3D-9A70-9A4D-993551A8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nut 7">
            <a:extLst>
              <a:ext uri="{FF2B5EF4-FFF2-40B4-BE49-F238E27FC236}">
                <a16:creationId xmlns:a16="http://schemas.microsoft.com/office/drawing/2014/main" id="{7107A728-9F7F-3F61-E277-4679D8660163}"/>
              </a:ext>
            </a:extLst>
          </p:cNvPr>
          <p:cNvSpPr/>
          <p:nvPr/>
        </p:nvSpPr>
        <p:spPr bwMode="auto">
          <a:xfrm>
            <a:off x="265792" y="687032"/>
            <a:ext cx="5760000" cy="323397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CFDD9723-0EC3-2410-D8AA-371C6059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Unified operational data foundation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C73B27-4F5A-E1E4-A7B5-385C728B99ED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" pitchFamily="34" charset="0"/>
              </a:rPr>
              <a:t>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Donut 7">
            <a:extLst>
              <a:ext uri="{FF2B5EF4-FFF2-40B4-BE49-F238E27FC236}">
                <a16:creationId xmlns:a16="http://schemas.microsoft.com/office/drawing/2014/main" id="{AE035CFA-4E4C-150C-4929-A009DD752FCD}"/>
              </a:ext>
            </a:extLst>
          </p:cNvPr>
          <p:cNvSpPr/>
          <p:nvPr/>
        </p:nvSpPr>
        <p:spPr bwMode="auto">
          <a:xfrm>
            <a:off x="6189348" y="687032"/>
            <a:ext cx="5760000" cy="323397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1BCAEC0-05BC-A5ED-7A24-5B57D949E4DC}"/>
              </a:ext>
            </a:extLst>
          </p:cNvPr>
          <p:cNvSpPr/>
          <p:nvPr/>
        </p:nvSpPr>
        <p:spPr bwMode="auto">
          <a:xfrm>
            <a:off x="265792" y="1079274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22DB47A-2AF6-CA48-FA65-E69206F46276}"/>
              </a:ext>
            </a:extLst>
          </p:cNvPr>
          <p:cNvSpPr/>
          <p:nvPr/>
        </p:nvSpPr>
        <p:spPr bwMode="auto">
          <a:xfrm>
            <a:off x="285792" y="1134274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objective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Create one trusted, real-time source of operational truth so every control-tower view, prediction and report uses the same data — delivering the SPEAR principle that all systems write to and read from EDH.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AC84F5-3AFE-785A-92A9-47D1A9E1A4E4}"/>
              </a:ext>
            </a:extLst>
          </p:cNvPr>
          <p:cNvSpPr/>
          <p:nvPr/>
        </p:nvSpPr>
        <p:spPr bwMode="auto">
          <a:xfrm>
            <a:off x="265792" y="2408119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F4E4069-04FE-94D8-E772-63C726778218}"/>
              </a:ext>
            </a:extLst>
          </p:cNvPr>
          <p:cNvSpPr/>
          <p:nvPr/>
        </p:nvSpPr>
        <p:spPr bwMode="auto">
          <a:xfrm>
            <a:off x="285792" y="2463119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results (proposed — baseline to confirm)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≥ 90% of priority data sources streaming to one platform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Event-to-dashboard latency under 1 minute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Manual data consolidation for daily reports down 50%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One governed data model for SIOC, BU Ops and Ground Ops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955C7CC-19DD-2A30-BD10-BD50DD35AAA7}"/>
              </a:ext>
            </a:extLst>
          </p:cNvPr>
          <p:cNvSpPr/>
          <p:nvPr/>
        </p:nvSpPr>
        <p:spPr bwMode="auto">
          <a:xfrm>
            <a:off x="265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E1CFF63-C0D0-E5A8-71C2-2670EEA1C202}"/>
              </a:ext>
            </a:extLst>
          </p:cNvPr>
          <p:cNvSpPr/>
          <p:nvPr/>
        </p:nvSpPr>
        <p:spPr bwMode="auto">
          <a:xfrm>
            <a:off x="285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Strategic alignment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SPEAR: EDH as the only read/write layer; analytics-driven ops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672F9DD-9424-3691-70D7-3C12574C587B}"/>
              </a:ext>
            </a:extLst>
          </p:cNvPr>
          <p:cNvSpPr/>
          <p:nvPr/>
        </p:nvSpPr>
        <p:spPr bwMode="auto">
          <a:xfrm>
            <a:off x="3181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E69584A-A177-2974-242A-926F9CEC29B7}"/>
              </a:ext>
            </a:extLst>
          </p:cNvPr>
          <p:cNvSpPr/>
          <p:nvPr/>
        </p:nvSpPr>
        <p:spPr bwMode="auto">
          <a:xfrm>
            <a:off x="3201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value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Lower integration and reporting cost; de-risks every other use case (2–5)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356033D-BC7D-0427-204F-F32E9FC9AC6D}"/>
              </a:ext>
            </a:extLst>
          </p:cNvPr>
          <p:cNvSpPr/>
          <p:nvPr/>
        </p:nvSpPr>
        <p:spPr bwMode="auto">
          <a:xfrm>
            <a:off x="265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F9B746A-403D-4C4F-BF26-1C56B49B4196}"/>
              </a:ext>
            </a:extLst>
          </p:cNvPr>
          <p:cNvSpPr/>
          <p:nvPr/>
        </p:nvSpPr>
        <p:spPr bwMode="auto">
          <a:xfrm>
            <a:off x="285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personas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Data Lead, SIOC analysts, BU data owners, IT integration team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9B9756C-BED6-75AC-B7DC-A07D7B686384}"/>
              </a:ext>
            </a:extLst>
          </p:cNvPr>
          <p:cNvSpPr/>
          <p:nvPr/>
        </p:nvSpPr>
        <p:spPr bwMode="auto">
          <a:xfrm>
            <a:off x="3181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0ABFEC4-74AB-1852-11FE-E53F01CBE16A}"/>
              </a:ext>
            </a:extLst>
          </p:cNvPr>
          <p:cNvSpPr/>
          <p:nvPr/>
        </p:nvSpPr>
        <p:spPr bwMode="auto">
          <a:xfrm>
            <a:off x="3201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proposition appeal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High for data and IT teams (one platform); indirect for frontline users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9AF68C6-7F93-A4F7-A23A-1BC478A8C6D4}"/>
              </a:ext>
            </a:extLst>
          </p:cNvPr>
          <p:cNvSpPr/>
          <p:nvPr/>
        </p:nvSpPr>
        <p:spPr bwMode="auto">
          <a:xfrm>
            <a:off x="265792" y="6129215"/>
            <a:ext cx="5760000" cy="6021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1703386C-5EEF-E256-4381-D560E81E8770}"/>
              </a:ext>
            </a:extLst>
          </p:cNvPr>
          <p:cNvSpPr/>
          <p:nvPr/>
        </p:nvSpPr>
        <p:spPr bwMode="auto">
          <a:xfrm>
            <a:off x="285792" y="6164215"/>
            <a:ext cx="5720000" cy="472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Primary stakeholder accountable for OKRs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Data Lead — [name TBC] · SATS Digital / Enterprise Data Hub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C3A11AD-DF27-D07D-50EC-4B562686915E}"/>
              </a:ext>
            </a:extLst>
          </p:cNvPr>
          <p:cNvSpPr/>
          <p:nvPr/>
        </p:nvSpPr>
        <p:spPr bwMode="auto">
          <a:xfrm>
            <a:off x="6189348" y="1079274"/>
            <a:ext cx="5760000" cy="25888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4734592-FDE9-3604-0C34-3780664AFC6F}"/>
              </a:ext>
            </a:extLst>
          </p:cNvPr>
          <p:cNvSpPr/>
          <p:nvPr/>
        </p:nvSpPr>
        <p:spPr bwMode="auto">
          <a:xfrm>
            <a:off x="6209348" y="1134274"/>
            <a:ext cx="5720000" cy="1805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Technology fit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Common pattern for real-time operations hubs; reference stories to share at solution envisioning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Natural extension of EDH / DataNexus through shortcuts and mirroring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Standard connectors for SQL, Kafka / Event Hubs, APIs and files; GroundStar and Mosaic interfaces need review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Sourcing: Microsoft Fabric + Purview, with a data engineering partner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BE1C870-88AE-2BAC-282B-5980E622C4CE}"/>
              </a:ext>
            </a:extLst>
          </p:cNvPr>
          <p:cNvSpPr/>
          <p:nvPr/>
        </p:nvSpPr>
        <p:spPr bwMode="auto">
          <a:xfrm>
            <a:off x="6189348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E2C5CD41-A6A2-0AA8-F5CA-9A58E03DFDF0}"/>
              </a:ext>
            </a:extLst>
          </p:cNvPr>
          <p:cNvSpPr/>
          <p:nvPr/>
        </p:nvSpPr>
        <p:spPr bwMode="auto">
          <a:xfrm>
            <a:off x="6209348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resistance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Medium — system owners must agree shared data contracts and ownership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908385A2-94CD-7324-4AA9-B6CF9952AD9C}"/>
              </a:ext>
            </a:extLst>
          </p:cNvPr>
          <p:cNvSpPr/>
          <p:nvPr/>
        </p:nvSpPr>
        <p:spPr bwMode="auto">
          <a:xfrm>
            <a:off x="6189348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CC560D2D-8183-6811-5FF2-96B6AD8C4647}"/>
              </a:ext>
            </a:extLst>
          </p:cNvPr>
          <p:cNvSpPr/>
          <p:nvPr/>
        </p:nvSpPr>
        <p:spPr bwMode="auto">
          <a:xfrm>
            <a:off x="6209348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Implementation risks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Legacy interfaces and data quality; CAG / airline data-sharing terms; peak volumes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E736ED01-09A5-D946-6F4F-95F911EBAEF3}"/>
              </a:ext>
            </a:extLst>
          </p:cNvPr>
          <p:cNvSpPr/>
          <p:nvPr/>
        </p:nvSpPr>
        <p:spPr bwMode="auto">
          <a:xfrm>
            <a:off x="9094971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CAAF2246-5A16-F32E-0417-44D65FD6D728}"/>
              </a:ext>
            </a:extLst>
          </p:cNvPr>
          <p:cNvSpPr/>
          <p:nvPr/>
        </p:nvSpPr>
        <p:spPr bwMode="auto">
          <a:xfrm>
            <a:off x="9114971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Safeguards available?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Purview lineage, role-based access, in-region data, sharing terms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50" name="Rectangle 5949">
            <a:extLst>
              <a:ext uri="{FF2B5EF4-FFF2-40B4-BE49-F238E27FC236}">
                <a16:creationId xmlns:a16="http://schemas.microsoft.com/office/drawing/2014/main" id="{67C9FCC4-747D-1222-2E93-7E2FB6A11752}"/>
              </a:ext>
            </a:extLst>
          </p:cNvPr>
          <p:cNvSpPr/>
          <p:nvPr/>
        </p:nvSpPr>
        <p:spPr bwMode="auto">
          <a:xfrm>
            <a:off x="9094971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55" name="Rectangle 5954">
            <a:extLst>
              <a:ext uri="{FF2B5EF4-FFF2-40B4-BE49-F238E27FC236}">
                <a16:creationId xmlns:a16="http://schemas.microsoft.com/office/drawing/2014/main" id="{16E5C3DD-D526-1D7A-D9B0-4556BF8E94E2}"/>
              </a:ext>
            </a:extLst>
          </p:cNvPr>
          <p:cNvSpPr/>
          <p:nvPr/>
        </p:nvSpPr>
        <p:spPr bwMode="auto">
          <a:xfrm>
            <a:off x="6189348" y="6129215"/>
            <a:ext cx="5760000" cy="602195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F1B0D071-24DA-72B9-58C1-E4D5D1776653}"/>
              </a:ext>
            </a:extLst>
          </p:cNvPr>
          <p:cNvSpPr/>
          <p:nvPr/>
        </p:nvSpPr>
        <p:spPr bwMode="auto">
          <a:xfrm>
            <a:off x="9114971" y="3791962"/>
            <a:ext cx="2804000" cy="885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timeframe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1–3 months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✓  4–6 months (estimate)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&gt; 6 months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290" name="Rectangle 11289">
            <a:extLst>
              <a:ext uri="{FF2B5EF4-FFF2-40B4-BE49-F238E27FC236}">
                <a16:creationId xmlns:a16="http://schemas.microsoft.com/office/drawing/2014/main" id="{8B483B62-1ACC-74FE-472E-975C61118E80}"/>
              </a:ext>
            </a:extLst>
          </p:cNvPr>
          <p:cNvSpPr/>
          <p:nvPr/>
        </p:nvSpPr>
        <p:spPr bwMode="auto">
          <a:xfrm>
            <a:off x="6249348" y="6178217"/>
            <a:ext cx="5640000" cy="50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STRATEGIC FIT (BXT, 1–5)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Value 3.2  ·  Feasibility 3.6  ·  Quick win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1950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DEB9-0EDC-50F7-4483-C14817D3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B5770EF-09B4-A227-FEB9-5E492671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AI operations control tower</a:t>
            </a:r>
          </a:p>
        </p:txBody>
      </p:sp>
      <p:sp>
        <p:nvSpPr>
          <p:cNvPr id="23" name="Donut 7">
            <a:extLst>
              <a:ext uri="{FF2B5EF4-FFF2-40B4-BE49-F238E27FC236}">
                <a16:creationId xmlns:a16="http://schemas.microsoft.com/office/drawing/2014/main" id="{50490B78-181C-1CFD-8B90-B7AE0D4E0632}"/>
              </a:ext>
            </a:extLst>
          </p:cNvPr>
          <p:cNvSpPr/>
          <p:nvPr/>
        </p:nvSpPr>
        <p:spPr bwMode="auto">
          <a:xfrm>
            <a:off x="265793" y="702439"/>
            <a:ext cx="11684937" cy="296744"/>
          </a:xfrm>
          <a:prstGeom prst="rect">
            <a:avLst/>
          </a:prstGeom>
          <a:solidFill>
            <a:srgbClr val="C03BC4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424C97-FE94-B575-8D8B-970E0C7EB595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C03BC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7CECD97F-1E40-8DA2-BBD3-B97667119368}"/>
              </a:ext>
            </a:extLst>
          </p:cNvPr>
          <p:cNvSpPr/>
          <p:nvPr/>
        </p:nvSpPr>
        <p:spPr bwMode="auto">
          <a:xfrm>
            <a:off x="265792" y="1069903"/>
            <a:ext cx="5803025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682FB32C-D200-B466-C8A5-87942CBF65F0}"/>
              </a:ext>
            </a:extLst>
          </p:cNvPr>
          <p:cNvSpPr/>
          <p:nvPr/>
        </p:nvSpPr>
        <p:spPr bwMode="auto">
          <a:xfrm>
            <a:off x="325792" y="1159903"/>
            <a:ext cx="5683025" cy="4409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Problem to solve / opportunity to realise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THE CHALLENGE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SIOC, BU Ops and Ground Ops each see part of the picture; coordination runs on walkies, WhatsApp and phones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Exceptions — late inbound, weather stoppage, missing GSE — are spotted late and escalated by hand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It is not always clear who should do what when plans change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IS SOLVED TODAY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DSM, DCT, G-Ops and Mosaic screens watched side by side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Experience-based judgement by duty managers; manual status reports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RISK OF DOING NOTHING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Disruption continues to cascade into delays and SLA misses while scarce, experienced staff become the bottleneck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4754A3E6-EC42-89CD-EAC8-52D14641EEA1}"/>
              </a:ext>
            </a:extLst>
          </p:cNvPr>
          <p:cNvSpPr/>
          <p:nvPr/>
        </p:nvSpPr>
        <p:spPr bwMode="auto">
          <a:xfrm>
            <a:off x="6147706" y="1069904"/>
            <a:ext cx="5803024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0BC017C5-D4FC-B0FB-3286-A512B8C50A3E}"/>
              </a:ext>
            </a:extLst>
          </p:cNvPr>
          <p:cNvSpPr/>
          <p:nvPr/>
        </p:nvSpPr>
        <p:spPr bwMode="auto">
          <a:xfrm>
            <a:off x="6207706" y="1159904"/>
            <a:ext cx="5683024" cy="5266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What is your idea?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USE CASE DESCRIPTION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Enhance DSM into a single pane of glass “from top floor to shop floor”: a live Power BI control tower on Fabric Real-Time Intelligence showing flights, turnarounds, staff, equipment and SLA risk — with exceptions pushed as actionable Teams alerts.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WORKS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Live turnaround board with milestone status and SLA risk by flight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Activator rules raise exceptions, e.g. late inbound with a short connection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Adaptive Cards in Teams to acknowledge, assign and close actions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Drill-down by BU, pier and airline; mobile view for ramp leads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 SOLUTION COMPONENTS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Power BI, Fabric Real-Time Intelligence (Real-Time Dashboards, Activator), Microsoft Teams, Power Automate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DATA AND SYSTEMS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Use case 1 platform: CAG turnaround events, flight schedules, GroundStar deployment, iFleet, airline SLAs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6840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0B23-28C2-5C6F-1D48-45B75747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nut 7">
            <a:extLst>
              <a:ext uri="{FF2B5EF4-FFF2-40B4-BE49-F238E27FC236}">
                <a16:creationId xmlns:a16="http://schemas.microsoft.com/office/drawing/2014/main" id="{ED6DB3E8-0E2F-0CB2-9C8D-CB8B561869B0}"/>
              </a:ext>
            </a:extLst>
          </p:cNvPr>
          <p:cNvSpPr/>
          <p:nvPr/>
        </p:nvSpPr>
        <p:spPr bwMode="auto">
          <a:xfrm>
            <a:off x="265792" y="687032"/>
            <a:ext cx="5760000" cy="323397"/>
          </a:xfrm>
          <a:prstGeom prst="rect">
            <a:avLst/>
          </a:prstGeom>
          <a:solidFill>
            <a:srgbClr val="C03BC4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81788D43-1F76-D5E5-062D-6B0B9D522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AI operations control tower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944341-5867-4245-1D14-F8FA429E9BA9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C03BC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2" name="Donut 7">
            <a:extLst>
              <a:ext uri="{FF2B5EF4-FFF2-40B4-BE49-F238E27FC236}">
                <a16:creationId xmlns:a16="http://schemas.microsoft.com/office/drawing/2014/main" id="{5438DC85-7C29-D5CB-FB03-C7FBBE224489}"/>
              </a:ext>
            </a:extLst>
          </p:cNvPr>
          <p:cNvSpPr/>
          <p:nvPr/>
        </p:nvSpPr>
        <p:spPr bwMode="auto">
          <a:xfrm>
            <a:off x="6189348" y="687032"/>
            <a:ext cx="5760000" cy="323397"/>
          </a:xfrm>
          <a:prstGeom prst="rect">
            <a:avLst/>
          </a:prstGeom>
          <a:solidFill>
            <a:srgbClr val="C03BC4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85EFF464-952A-B186-79D8-AE6B87FCDAF0}"/>
              </a:ext>
            </a:extLst>
          </p:cNvPr>
          <p:cNvSpPr/>
          <p:nvPr/>
        </p:nvSpPr>
        <p:spPr bwMode="auto">
          <a:xfrm>
            <a:off x="265792" y="1079274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F134450C-B39C-AA53-91B0-6D1FD6B16F78}"/>
              </a:ext>
            </a:extLst>
          </p:cNvPr>
          <p:cNvSpPr/>
          <p:nvPr/>
        </p:nvSpPr>
        <p:spPr bwMode="auto">
          <a:xfrm>
            <a:off x="285792" y="1134274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objective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Give every level of operations one real-time view of demand, capacity, assets, exceptions and customer impact, so issues are detected and acted on before they hurt on-time performance and SLAs.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EB76F605-C108-1D2D-1FBE-F3E65CE4795F}"/>
              </a:ext>
            </a:extLst>
          </p:cNvPr>
          <p:cNvSpPr/>
          <p:nvPr/>
        </p:nvSpPr>
        <p:spPr bwMode="auto">
          <a:xfrm>
            <a:off x="265792" y="2408119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DC1B576A-B95C-68DA-5ED9-21C1F65EF179}"/>
              </a:ext>
            </a:extLst>
          </p:cNvPr>
          <p:cNvSpPr/>
          <p:nvPr/>
        </p:nvSpPr>
        <p:spPr bwMode="auto">
          <a:xfrm>
            <a:off x="285792" y="2463119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results (proposed — baseline to confirm)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Exception detection-to-action under 5 min (baseline TBC)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100% of priority exceptions tracked to closure in one flow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Status calls and messages between SIOC and BU Ops down 40%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SLA adherence for priority airlines up [x] pts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9AAB730-3FAE-38A6-AC92-3B40F3FC1BA6}"/>
              </a:ext>
            </a:extLst>
          </p:cNvPr>
          <p:cNvSpPr/>
          <p:nvPr/>
        </p:nvSpPr>
        <p:spPr bwMode="auto">
          <a:xfrm>
            <a:off x="265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44" name="Rectangle 1143">
            <a:extLst>
              <a:ext uri="{FF2B5EF4-FFF2-40B4-BE49-F238E27FC236}">
                <a16:creationId xmlns:a16="http://schemas.microsoft.com/office/drawing/2014/main" id="{DC9B10E5-F66E-3360-1DD2-62A80157B7C5}"/>
              </a:ext>
            </a:extLst>
          </p:cNvPr>
          <p:cNvSpPr/>
          <p:nvPr/>
        </p:nvSpPr>
        <p:spPr bwMode="auto">
          <a:xfrm>
            <a:off x="285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Strategic alignment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SPEAR: DSM as single pane of glass; transparency across SIOC, BU Ops and Ground Ops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6A9D7329-1ABD-04DE-CBB7-5AE16238B458}"/>
              </a:ext>
            </a:extLst>
          </p:cNvPr>
          <p:cNvSpPr/>
          <p:nvPr/>
        </p:nvSpPr>
        <p:spPr bwMode="auto">
          <a:xfrm>
            <a:off x="3181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9A9A67BA-30E3-804A-32E9-58B8A9FD9DFA}"/>
              </a:ext>
            </a:extLst>
          </p:cNvPr>
          <p:cNvSpPr/>
          <p:nvPr/>
        </p:nvSpPr>
        <p:spPr bwMode="auto">
          <a:xfrm>
            <a:off x="3201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value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Fewer delays and SLA penalties; better use of scarce staff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88" name="Rectangle 1287">
            <a:extLst>
              <a:ext uri="{FF2B5EF4-FFF2-40B4-BE49-F238E27FC236}">
                <a16:creationId xmlns:a16="http://schemas.microsoft.com/office/drawing/2014/main" id="{83F90BA7-027B-7F87-8D0A-FCCE34DB9A03}"/>
              </a:ext>
            </a:extLst>
          </p:cNvPr>
          <p:cNvSpPr/>
          <p:nvPr/>
        </p:nvSpPr>
        <p:spPr bwMode="auto">
          <a:xfrm>
            <a:off x="265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4337E7B8-4751-CD30-76B2-46DED7613DC6}"/>
              </a:ext>
            </a:extLst>
          </p:cNvPr>
          <p:cNvSpPr/>
          <p:nvPr/>
        </p:nvSpPr>
        <p:spPr bwMode="auto">
          <a:xfrm>
            <a:off x="285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personas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Control Tower Lead, SIOC duty managers, BU Ops managers, ramp leads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89" name="Rectangle 1388">
            <a:extLst>
              <a:ext uri="{FF2B5EF4-FFF2-40B4-BE49-F238E27FC236}">
                <a16:creationId xmlns:a16="http://schemas.microsoft.com/office/drawing/2014/main" id="{8BCDFFA1-E041-3AFE-566C-0C997B0A86F0}"/>
              </a:ext>
            </a:extLst>
          </p:cNvPr>
          <p:cNvSpPr/>
          <p:nvPr/>
        </p:nvSpPr>
        <p:spPr bwMode="auto">
          <a:xfrm>
            <a:off x="3181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41" name="Rectangle 1440">
            <a:extLst>
              <a:ext uri="{FF2B5EF4-FFF2-40B4-BE49-F238E27FC236}">
                <a16:creationId xmlns:a16="http://schemas.microsoft.com/office/drawing/2014/main" id="{BEE4521C-E994-B53D-8ABB-1B32B8108737}"/>
              </a:ext>
            </a:extLst>
          </p:cNvPr>
          <p:cNvSpPr/>
          <p:nvPr/>
        </p:nvSpPr>
        <p:spPr bwMode="auto">
          <a:xfrm>
            <a:off x="3201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proposition appeal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High — one view and one action trail replace swivel-chair screens and chats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77740CF6-482E-A8B9-B9F5-DFFBA7DA11FE}"/>
              </a:ext>
            </a:extLst>
          </p:cNvPr>
          <p:cNvSpPr/>
          <p:nvPr/>
        </p:nvSpPr>
        <p:spPr bwMode="auto">
          <a:xfrm>
            <a:off x="265792" y="6129215"/>
            <a:ext cx="5760000" cy="6021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48" name="Rectangle 1547">
            <a:extLst>
              <a:ext uri="{FF2B5EF4-FFF2-40B4-BE49-F238E27FC236}">
                <a16:creationId xmlns:a16="http://schemas.microsoft.com/office/drawing/2014/main" id="{2DA8099F-863F-2294-8D9C-C9D9C6E8ACB4}"/>
              </a:ext>
            </a:extLst>
          </p:cNvPr>
          <p:cNvSpPr/>
          <p:nvPr/>
        </p:nvSpPr>
        <p:spPr bwMode="auto">
          <a:xfrm>
            <a:off x="285792" y="6164215"/>
            <a:ext cx="5720000" cy="472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Primary stakeholder accountable for OKRs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Control Tower Lead (Head of SIOC) — [name TBC] · SIOC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03" name="Rectangle 1602">
            <a:extLst>
              <a:ext uri="{FF2B5EF4-FFF2-40B4-BE49-F238E27FC236}">
                <a16:creationId xmlns:a16="http://schemas.microsoft.com/office/drawing/2014/main" id="{202AE66F-D184-7954-F6BA-8575279E5B12}"/>
              </a:ext>
            </a:extLst>
          </p:cNvPr>
          <p:cNvSpPr/>
          <p:nvPr/>
        </p:nvSpPr>
        <p:spPr bwMode="auto">
          <a:xfrm>
            <a:off x="6189348" y="1079274"/>
            <a:ext cx="5760000" cy="25888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5F719EA1-349F-2748-094D-977141C05FA1}"/>
              </a:ext>
            </a:extLst>
          </p:cNvPr>
          <p:cNvSpPr/>
          <p:nvPr/>
        </p:nvSpPr>
        <p:spPr bwMode="auto">
          <a:xfrm>
            <a:off x="6209348" y="1134274"/>
            <a:ext cx="5720000" cy="1805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Technology fit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Evolutionary: builds on existing DSM and Digital Control Tower concepts — surrounds Mosaic, does not replace 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MVP possible on 2–3 feeds (flights, tasks, GSE) once use case 1 streams them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Power BI skills usually in place; Real-Time Intelligence and Activator are new skills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Sourcing: Power BI + Fabric RTI + Teams; partner for UX and rollout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4698FBC7-F436-14CA-EE84-0BD9A50A382F}"/>
              </a:ext>
            </a:extLst>
          </p:cNvPr>
          <p:cNvSpPr/>
          <p:nvPr/>
        </p:nvSpPr>
        <p:spPr bwMode="auto">
          <a:xfrm>
            <a:off x="6189348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74" name="Rectangle 1773">
            <a:extLst>
              <a:ext uri="{FF2B5EF4-FFF2-40B4-BE49-F238E27FC236}">
                <a16:creationId xmlns:a16="http://schemas.microsoft.com/office/drawing/2014/main" id="{8357ABFC-CDD6-FB3D-99F7-52E4B093CCFE}"/>
              </a:ext>
            </a:extLst>
          </p:cNvPr>
          <p:cNvSpPr/>
          <p:nvPr/>
        </p:nvSpPr>
        <p:spPr bwMode="auto">
          <a:xfrm>
            <a:off x="6209348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resistance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Low–medium — strong SIOC pull; ramp teams need mobile alerts and clear ownership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41" name="Rectangle 2340">
            <a:extLst>
              <a:ext uri="{FF2B5EF4-FFF2-40B4-BE49-F238E27FC236}">
                <a16:creationId xmlns:a16="http://schemas.microsoft.com/office/drawing/2014/main" id="{05D426C1-EEFF-D715-02AE-10BB1A3BFBE8}"/>
              </a:ext>
            </a:extLst>
          </p:cNvPr>
          <p:cNvSpPr/>
          <p:nvPr/>
        </p:nvSpPr>
        <p:spPr bwMode="auto">
          <a:xfrm>
            <a:off x="6189348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8CC764BC-624F-22D3-AE9B-FD560AED7C39}"/>
              </a:ext>
            </a:extLst>
          </p:cNvPr>
          <p:cNvSpPr/>
          <p:nvPr/>
        </p:nvSpPr>
        <p:spPr bwMode="auto">
          <a:xfrm>
            <a:off x="6209348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Implementation risks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Depends on use case 1 latency; alert fatigue; 24×7 uptime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78" name="Rectangle 2477">
            <a:extLst>
              <a:ext uri="{FF2B5EF4-FFF2-40B4-BE49-F238E27FC236}">
                <a16:creationId xmlns:a16="http://schemas.microsoft.com/office/drawing/2014/main" id="{5079F8FE-944F-1EEC-D0E4-F3ADBE7ABF4C}"/>
              </a:ext>
            </a:extLst>
          </p:cNvPr>
          <p:cNvSpPr/>
          <p:nvPr/>
        </p:nvSpPr>
        <p:spPr bwMode="auto">
          <a:xfrm>
            <a:off x="9094971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48" name="Rectangle 2547">
            <a:extLst>
              <a:ext uri="{FF2B5EF4-FFF2-40B4-BE49-F238E27FC236}">
                <a16:creationId xmlns:a16="http://schemas.microsoft.com/office/drawing/2014/main" id="{4A0DE8C3-7B24-CB2C-D558-CCB7C5AAE701}"/>
              </a:ext>
            </a:extLst>
          </p:cNvPr>
          <p:cNvSpPr/>
          <p:nvPr/>
        </p:nvSpPr>
        <p:spPr bwMode="auto">
          <a:xfrm>
            <a:off x="9114971" y="4988089"/>
            <a:ext cx="2804000" cy="662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Safeguards available?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Role-based views by BU and airline; action audit trail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64" name="Rectangle 5963">
            <a:extLst>
              <a:ext uri="{FF2B5EF4-FFF2-40B4-BE49-F238E27FC236}">
                <a16:creationId xmlns:a16="http://schemas.microsoft.com/office/drawing/2014/main" id="{D540D810-67D9-DF30-271C-1B980A7FEB71}"/>
              </a:ext>
            </a:extLst>
          </p:cNvPr>
          <p:cNvSpPr/>
          <p:nvPr/>
        </p:nvSpPr>
        <p:spPr bwMode="auto">
          <a:xfrm>
            <a:off x="9094971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77" name="Rectangle 5976">
            <a:extLst>
              <a:ext uri="{FF2B5EF4-FFF2-40B4-BE49-F238E27FC236}">
                <a16:creationId xmlns:a16="http://schemas.microsoft.com/office/drawing/2014/main" id="{42E5A708-6463-0496-B55F-FEBB0E5A18F4}"/>
              </a:ext>
            </a:extLst>
          </p:cNvPr>
          <p:cNvSpPr/>
          <p:nvPr/>
        </p:nvSpPr>
        <p:spPr bwMode="auto">
          <a:xfrm>
            <a:off x="6189348" y="6129215"/>
            <a:ext cx="5760000" cy="602195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85" name="Rectangle 5984">
            <a:extLst>
              <a:ext uri="{FF2B5EF4-FFF2-40B4-BE49-F238E27FC236}">
                <a16:creationId xmlns:a16="http://schemas.microsoft.com/office/drawing/2014/main" id="{EAF4B82C-F0A9-AF37-7E88-1CA9BED81A2D}"/>
              </a:ext>
            </a:extLst>
          </p:cNvPr>
          <p:cNvSpPr/>
          <p:nvPr/>
        </p:nvSpPr>
        <p:spPr bwMode="auto">
          <a:xfrm>
            <a:off x="6249348" y="6178217"/>
            <a:ext cx="5640000" cy="50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STRATEGIC FIT (BXT, 1–5)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Value 4.2  ·  Feasibility 4.1  ·  Quick win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20855811-E12C-3E5A-A5FD-3CAC55904D23}"/>
              </a:ext>
            </a:extLst>
          </p:cNvPr>
          <p:cNvSpPr/>
          <p:nvPr/>
        </p:nvSpPr>
        <p:spPr bwMode="auto">
          <a:xfrm>
            <a:off x="9114971" y="3791962"/>
            <a:ext cx="2804000" cy="885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timeframe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1–3 months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✓  4–6 months (estimate)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&gt; 6 months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604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FFCD-4241-D123-271D-6137D0A4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1BBFE5D-3C46-1E83-ECF1-D32913B2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Disruption prediction and recovery optimiser</a:t>
            </a:r>
          </a:p>
        </p:txBody>
      </p:sp>
      <p:sp>
        <p:nvSpPr>
          <p:cNvPr id="23" name="Donut 7">
            <a:extLst>
              <a:ext uri="{FF2B5EF4-FFF2-40B4-BE49-F238E27FC236}">
                <a16:creationId xmlns:a16="http://schemas.microsoft.com/office/drawing/2014/main" id="{4B972237-18C7-DEF3-29BE-02403CB9A208}"/>
              </a:ext>
            </a:extLst>
          </p:cNvPr>
          <p:cNvSpPr/>
          <p:nvPr/>
        </p:nvSpPr>
        <p:spPr bwMode="auto">
          <a:xfrm>
            <a:off x="265793" y="702439"/>
            <a:ext cx="11684937" cy="296744"/>
          </a:xfrm>
          <a:prstGeom prst="rect">
            <a:avLst/>
          </a:prstGeom>
          <a:solidFill>
            <a:srgbClr val="FFA38B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7AB929-1BE5-C58C-8255-DD147649D851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FFA38B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2764" name="Rectangle 2763">
            <a:extLst>
              <a:ext uri="{FF2B5EF4-FFF2-40B4-BE49-F238E27FC236}">
                <a16:creationId xmlns:a16="http://schemas.microsoft.com/office/drawing/2014/main" id="{6E48C3C3-795D-739D-3E5B-3208A35DDE87}"/>
              </a:ext>
            </a:extLst>
          </p:cNvPr>
          <p:cNvSpPr/>
          <p:nvPr/>
        </p:nvSpPr>
        <p:spPr bwMode="auto">
          <a:xfrm>
            <a:off x="265792" y="1069903"/>
            <a:ext cx="5803025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38" name="Rectangle 2837">
            <a:extLst>
              <a:ext uri="{FF2B5EF4-FFF2-40B4-BE49-F238E27FC236}">
                <a16:creationId xmlns:a16="http://schemas.microsoft.com/office/drawing/2014/main" id="{CF4D92D1-1C5B-BFDD-1E81-1B983814CACE}"/>
              </a:ext>
            </a:extLst>
          </p:cNvPr>
          <p:cNvSpPr/>
          <p:nvPr/>
        </p:nvSpPr>
        <p:spPr bwMode="auto">
          <a:xfrm>
            <a:off x="325792" y="1159903"/>
            <a:ext cx="5683025" cy="4187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Problem to solve / opportunity to realise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THE CHALLENGE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Flight delays, thunderstorm and lightning stoppages and late inbounds cascade across shifts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Re-planning for changes inside 2 hours is manual and relies on a few experienced staff — an ageing workforce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Staff and GSE are redeployed after the disruption hits, not before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IS SOLVED TODAY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Duty managers adjust GroundStar deployment and SIOC priorities by phone and radio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Little use of predictive signals such as weather or inbound delay probability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RISK OF DOING NOTHING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Overtime, delays and SLA penalties grow as volumes rise and expert knowledge retires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13" name="Rectangle 2912">
            <a:extLst>
              <a:ext uri="{FF2B5EF4-FFF2-40B4-BE49-F238E27FC236}">
                <a16:creationId xmlns:a16="http://schemas.microsoft.com/office/drawing/2014/main" id="{632ADEEF-BF3C-9DB5-F0CA-248227BA8FF9}"/>
              </a:ext>
            </a:extLst>
          </p:cNvPr>
          <p:cNvSpPr/>
          <p:nvPr/>
        </p:nvSpPr>
        <p:spPr bwMode="auto">
          <a:xfrm>
            <a:off x="6147706" y="1069904"/>
            <a:ext cx="5803024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89" name="Rectangle 2988">
            <a:extLst>
              <a:ext uri="{FF2B5EF4-FFF2-40B4-BE49-F238E27FC236}">
                <a16:creationId xmlns:a16="http://schemas.microsoft.com/office/drawing/2014/main" id="{9A2B1F9D-71BB-7E66-2F51-40332736C12B}"/>
              </a:ext>
            </a:extLst>
          </p:cNvPr>
          <p:cNvSpPr/>
          <p:nvPr/>
        </p:nvSpPr>
        <p:spPr bwMode="auto">
          <a:xfrm>
            <a:off x="6207706" y="1159904"/>
            <a:ext cx="5683024" cy="5266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What is your idea?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USE CASE DESCRIPTION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Predict disruption hours ahead and recommend recovery: Azure AI scores delay and weather-stoppage risk per flight; an optimiser proposes staff, task and GSE re-allocation for changes inside 2 hours; people approve — surround, not replace.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WORKS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Delay-risk model on flight history, weather at origin and destination, and CAG milestones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Weather-stoppage nowcast (lightning, heavy rain) for ramp work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Constraint optimiser re-allocates staff, tasks and GSE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What-if scenarios in the control tower; approval through Teams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 SOLUTION COMPONENTS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Azure Machine Learning, Azure AI Foundry, Fabric Data Science, optimisation solver on Azure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DATA AND SYSTEMS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Use case 1 platform: 12–24 months of flights, delays, weather, tasks and stoppages; GroundStar RT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576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8743-B4D3-28E2-7EAF-7944C48E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nut 7">
            <a:extLst>
              <a:ext uri="{FF2B5EF4-FFF2-40B4-BE49-F238E27FC236}">
                <a16:creationId xmlns:a16="http://schemas.microsoft.com/office/drawing/2014/main" id="{B509E306-59F4-7C74-D707-7FA36CD2CB55}"/>
              </a:ext>
            </a:extLst>
          </p:cNvPr>
          <p:cNvSpPr/>
          <p:nvPr/>
        </p:nvSpPr>
        <p:spPr bwMode="auto">
          <a:xfrm>
            <a:off x="265792" y="687032"/>
            <a:ext cx="5760000" cy="323397"/>
          </a:xfrm>
          <a:prstGeom prst="rect">
            <a:avLst/>
          </a:prstGeom>
          <a:solidFill>
            <a:srgbClr val="FFA38B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E7D6D546-31FB-7AE0-8379-40E2F306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Disruption prediction and recovery optimiser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D8703FC-08E2-FDC5-E311-8FFF2B59BF95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FFA38B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2" name="Donut 7">
            <a:extLst>
              <a:ext uri="{FF2B5EF4-FFF2-40B4-BE49-F238E27FC236}">
                <a16:creationId xmlns:a16="http://schemas.microsoft.com/office/drawing/2014/main" id="{37E96880-7138-88DC-CC44-A054CAD6796F}"/>
              </a:ext>
            </a:extLst>
          </p:cNvPr>
          <p:cNvSpPr/>
          <p:nvPr/>
        </p:nvSpPr>
        <p:spPr bwMode="auto">
          <a:xfrm>
            <a:off x="6189348" y="687032"/>
            <a:ext cx="5760000" cy="323397"/>
          </a:xfrm>
          <a:prstGeom prst="rect">
            <a:avLst/>
          </a:prstGeom>
          <a:solidFill>
            <a:srgbClr val="FFA38B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3066" name="Rectangle 3065">
            <a:extLst>
              <a:ext uri="{FF2B5EF4-FFF2-40B4-BE49-F238E27FC236}">
                <a16:creationId xmlns:a16="http://schemas.microsoft.com/office/drawing/2014/main" id="{2571956F-27DD-048A-A555-C0BF1542D14B}"/>
              </a:ext>
            </a:extLst>
          </p:cNvPr>
          <p:cNvSpPr/>
          <p:nvPr/>
        </p:nvSpPr>
        <p:spPr bwMode="auto">
          <a:xfrm>
            <a:off x="265792" y="1079274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44" name="Rectangle 3143">
            <a:extLst>
              <a:ext uri="{FF2B5EF4-FFF2-40B4-BE49-F238E27FC236}">
                <a16:creationId xmlns:a16="http://schemas.microsoft.com/office/drawing/2014/main" id="{FB081DE7-FA03-8122-25A5-36661F0CD688}"/>
              </a:ext>
            </a:extLst>
          </p:cNvPr>
          <p:cNvSpPr/>
          <p:nvPr/>
        </p:nvSpPr>
        <p:spPr bwMode="auto">
          <a:xfrm>
            <a:off x="285792" y="1134274"/>
            <a:ext cx="5720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objective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Move from reactive to predictive operations: anticipate disruption and re-plan resources before it hits, protecting on-time performance, SLAs and overtime cost.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23" name="Rectangle 3222">
            <a:extLst>
              <a:ext uri="{FF2B5EF4-FFF2-40B4-BE49-F238E27FC236}">
                <a16:creationId xmlns:a16="http://schemas.microsoft.com/office/drawing/2014/main" id="{C3E9EEFC-0650-58E6-93AE-A9CB057F1991}"/>
              </a:ext>
            </a:extLst>
          </p:cNvPr>
          <p:cNvSpPr/>
          <p:nvPr/>
        </p:nvSpPr>
        <p:spPr bwMode="auto">
          <a:xfrm>
            <a:off x="265792" y="2408119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03" name="Rectangle 3302">
            <a:extLst>
              <a:ext uri="{FF2B5EF4-FFF2-40B4-BE49-F238E27FC236}">
                <a16:creationId xmlns:a16="http://schemas.microsoft.com/office/drawing/2014/main" id="{723FD5E8-B4C7-5045-7C5E-5E699EDBA76C}"/>
              </a:ext>
            </a:extLst>
          </p:cNvPr>
          <p:cNvSpPr/>
          <p:nvPr/>
        </p:nvSpPr>
        <p:spPr bwMode="auto">
          <a:xfrm>
            <a:off x="285792" y="2463119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results (proposed — baseline to confirm)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High-risk flights flagged ≥ 2 h ahead at agreed precision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Re-plan time for sub-2-h changes: [baseline] → minutes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Disruption-driven overtime down [x]%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On-time performance in disrupted periods up [x] pts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84" name="Rectangle 3383">
            <a:extLst>
              <a:ext uri="{FF2B5EF4-FFF2-40B4-BE49-F238E27FC236}">
                <a16:creationId xmlns:a16="http://schemas.microsoft.com/office/drawing/2014/main" id="{3A861268-FCD5-EF78-AB75-6A3A31BDC8B9}"/>
              </a:ext>
            </a:extLst>
          </p:cNvPr>
          <p:cNvSpPr/>
          <p:nvPr/>
        </p:nvSpPr>
        <p:spPr bwMode="auto">
          <a:xfrm>
            <a:off x="265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66" name="Rectangle 3465">
            <a:extLst>
              <a:ext uri="{FF2B5EF4-FFF2-40B4-BE49-F238E27FC236}">
                <a16:creationId xmlns:a16="http://schemas.microsoft.com/office/drawing/2014/main" id="{33E3F7DF-077E-4070-E2DD-188AB837ED1E}"/>
              </a:ext>
            </a:extLst>
          </p:cNvPr>
          <p:cNvSpPr/>
          <p:nvPr/>
        </p:nvSpPr>
        <p:spPr bwMode="auto">
          <a:xfrm>
            <a:off x="285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Strategic alignment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SPEAR: real-time optimiser for &lt;2-hr changes; react better to emergent events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49" name="Rectangle 3548">
            <a:extLst>
              <a:ext uri="{FF2B5EF4-FFF2-40B4-BE49-F238E27FC236}">
                <a16:creationId xmlns:a16="http://schemas.microsoft.com/office/drawing/2014/main" id="{21318254-0A51-425E-0BB5-601846C1878A}"/>
              </a:ext>
            </a:extLst>
          </p:cNvPr>
          <p:cNvSpPr/>
          <p:nvPr/>
        </p:nvSpPr>
        <p:spPr bwMode="auto">
          <a:xfrm>
            <a:off x="3181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33" name="Rectangle 3632">
            <a:extLst>
              <a:ext uri="{FF2B5EF4-FFF2-40B4-BE49-F238E27FC236}">
                <a16:creationId xmlns:a16="http://schemas.microsoft.com/office/drawing/2014/main" id="{334AA835-1556-810A-04CC-D97D5B2FC373}"/>
              </a:ext>
            </a:extLst>
          </p:cNvPr>
          <p:cNvSpPr/>
          <p:nvPr/>
        </p:nvSpPr>
        <p:spPr bwMode="auto">
          <a:xfrm>
            <a:off x="3201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value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Lower overtime and penalty cost; more throughput within infrastructure limits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18" name="Rectangle 3717">
            <a:extLst>
              <a:ext uri="{FF2B5EF4-FFF2-40B4-BE49-F238E27FC236}">
                <a16:creationId xmlns:a16="http://schemas.microsoft.com/office/drawing/2014/main" id="{82031485-E388-6EFA-EBD2-90783185C8F5}"/>
              </a:ext>
            </a:extLst>
          </p:cNvPr>
          <p:cNvSpPr/>
          <p:nvPr/>
        </p:nvSpPr>
        <p:spPr bwMode="auto">
          <a:xfrm>
            <a:off x="265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04" name="Rectangle 3803">
            <a:extLst>
              <a:ext uri="{FF2B5EF4-FFF2-40B4-BE49-F238E27FC236}">
                <a16:creationId xmlns:a16="http://schemas.microsoft.com/office/drawing/2014/main" id="{BD12381C-D058-2AD6-003B-EC3E37892C44}"/>
              </a:ext>
            </a:extLst>
          </p:cNvPr>
          <p:cNvSpPr/>
          <p:nvPr/>
        </p:nvSpPr>
        <p:spPr bwMode="auto">
          <a:xfrm>
            <a:off x="285792" y="4988089"/>
            <a:ext cx="2804000" cy="662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personas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COO, SIOC duty managers, BU deployment controllers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91" name="Rectangle 3890">
            <a:extLst>
              <a:ext uri="{FF2B5EF4-FFF2-40B4-BE49-F238E27FC236}">
                <a16:creationId xmlns:a16="http://schemas.microsoft.com/office/drawing/2014/main" id="{889FB34F-DF02-E024-F552-C3991B025F07}"/>
              </a:ext>
            </a:extLst>
          </p:cNvPr>
          <p:cNvSpPr/>
          <p:nvPr/>
        </p:nvSpPr>
        <p:spPr bwMode="auto">
          <a:xfrm>
            <a:off x="3181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79" name="Rectangle 3978">
            <a:extLst>
              <a:ext uri="{FF2B5EF4-FFF2-40B4-BE49-F238E27FC236}">
                <a16:creationId xmlns:a16="http://schemas.microsoft.com/office/drawing/2014/main" id="{E5D54E6E-24F7-9EC6-9FEF-B9E0ECC5B88A}"/>
              </a:ext>
            </a:extLst>
          </p:cNvPr>
          <p:cNvSpPr/>
          <p:nvPr/>
        </p:nvSpPr>
        <p:spPr bwMode="auto">
          <a:xfrm>
            <a:off x="3201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proposition appeal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High if recommendations are explainable and editable; low if a black box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68" name="Rectangle 4067">
            <a:extLst>
              <a:ext uri="{FF2B5EF4-FFF2-40B4-BE49-F238E27FC236}">
                <a16:creationId xmlns:a16="http://schemas.microsoft.com/office/drawing/2014/main" id="{C2E283F6-BADD-DCA8-A334-28507F613B6B}"/>
              </a:ext>
            </a:extLst>
          </p:cNvPr>
          <p:cNvSpPr/>
          <p:nvPr/>
        </p:nvSpPr>
        <p:spPr bwMode="auto">
          <a:xfrm>
            <a:off x="265792" y="6129215"/>
            <a:ext cx="5760000" cy="6021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58" name="Rectangle 4157">
            <a:extLst>
              <a:ext uri="{FF2B5EF4-FFF2-40B4-BE49-F238E27FC236}">
                <a16:creationId xmlns:a16="http://schemas.microsoft.com/office/drawing/2014/main" id="{89C1A863-8156-D789-F29A-30A73ABB440E}"/>
              </a:ext>
            </a:extLst>
          </p:cNvPr>
          <p:cNvSpPr/>
          <p:nvPr/>
        </p:nvSpPr>
        <p:spPr bwMode="auto">
          <a:xfrm>
            <a:off x="285792" y="6164215"/>
            <a:ext cx="5720000" cy="472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Primary stakeholder accountable for OKRs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COO — [name TBC] · Operations (SIOC and BU Ops)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49" name="Rectangle 4248">
            <a:extLst>
              <a:ext uri="{FF2B5EF4-FFF2-40B4-BE49-F238E27FC236}">
                <a16:creationId xmlns:a16="http://schemas.microsoft.com/office/drawing/2014/main" id="{2A047CCE-9A05-DC75-FC93-F4A802E09285}"/>
              </a:ext>
            </a:extLst>
          </p:cNvPr>
          <p:cNvSpPr/>
          <p:nvPr/>
        </p:nvSpPr>
        <p:spPr bwMode="auto">
          <a:xfrm>
            <a:off x="6189348" y="1079274"/>
            <a:ext cx="5760000" cy="25888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41" name="Rectangle 4340">
            <a:extLst>
              <a:ext uri="{FF2B5EF4-FFF2-40B4-BE49-F238E27FC236}">
                <a16:creationId xmlns:a16="http://schemas.microsoft.com/office/drawing/2014/main" id="{E49415A8-AB03-97E3-BB89-D8FC9365DA37}"/>
              </a:ext>
            </a:extLst>
          </p:cNvPr>
          <p:cNvSpPr/>
          <p:nvPr/>
        </p:nvSpPr>
        <p:spPr bwMode="auto">
          <a:xfrm>
            <a:off x="6209348" y="1134274"/>
            <a:ext cx="5720000" cy="1424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Technology fit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Proven patterns in the SPEAR playback: flight-delay prediction on Azure and an airport stand-planning optimiser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Needs clean history across flights, weather, tasks and stoppages (use case 1)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Write-back to GroundStar RT for execution must be designed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Sourcing: Azure ML + solver; data science partner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34" name="Rectangle 4433">
            <a:extLst>
              <a:ext uri="{FF2B5EF4-FFF2-40B4-BE49-F238E27FC236}">
                <a16:creationId xmlns:a16="http://schemas.microsoft.com/office/drawing/2014/main" id="{537A3022-CF86-B641-76D9-C08DDFFF1246}"/>
              </a:ext>
            </a:extLst>
          </p:cNvPr>
          <p:cNvSpPr/>
          <p:nvPr/>
        </p:nvSpPr>
        <p:spPr bwMode="auto">
          <a:xfrm>
            <a:off x="6189348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28" name="Rectangle 4527">
            <a:extLst>
              <a:ext uri="{FF2B5EF4-FFF2-40B4-BE49-F238E27FC236}">
                <a16:creationId xmlns:a16="http://schemas.microsoft.com/office/drawing/2014/main" id="{F91CA3A2-5EE7-16B7-B844-D83B5776051C}"/>
              </a:ext>
            </a:extLst>
          </p:cNvPr>
          <p:cNvSpPr/>
          <p:nvPr/>
        </p:nvSpPr>
        <p:spPr bwMode="auto">
          <a:xfrm>
            <a:off x="6209348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resistance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Medium–high — trust in AI advice; controller expertise must be built in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19" name="Rectangle 5418">
            <a:extLst>
              <a:ext uri="{FF2B5EF4-FFF2-40B4-BE49-F238E27FC236}">
                <a16:creationId xmlns:a16="http://schemas.microsoft.com/office/drawing/2014/main" id="{1628648F-7360-DC0B-B29F-CCFB7A25AF17}"/>
              </a:ext>
            </a:extLst>
          </p:cNvPr>
          <p:cNvSpPr/>
          <p:nvPr/>
        </p:nvSpPr>
        <p:spPr bwMode="auto">
          <a:xfrm>
            <a:off x="6189348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523" name="Rectangle 5522">
            <a:extLst>
              <a:ext uri="{FF2B5EF4-FFF2-40B4-BE49-F238E27FC236}">
                <a16:creationId xmlns:a16="http://schemas.microsoft.com/office/drawing/2014/main" id="{9C0F675E-02D7-F528-E075-34A92A975909}"/>
              </a:ext>
            </a:extLst>
          </p:cNvPr>
          <p:cNvSpPr/>
          <p:nvPr/>
        </p:nvSpPr>
        <p:spPr bwMode="auto">
          <a:xfrm>
            <a:off x="6209348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Implementation risks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Data-history gaps; model drift in rare events; solver run time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28" name="Rectangle 5627">
            <a:extLst>
              <a:ext uri="{FF2B5EF4-FFF2-40B4-BE49-F238E27FC236}">
                <a16:creationId xmlns:a16="http://schemas.microsoft.com/office/drawing/2014/main" id="{DC756627-E2B6-A08C-1D3C-B08B130019D0}"/>
              </a:ext>
            </a:extLst>
          </p:cNvPr>
          <p:cNvSpPr/>
          <p:nvPr/>
        </p:nvSpPr>
        <p:spPr bwMode="auto">
          <a:xfrm>
            <a:off x="9094971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734" name="Rectangle 5733">
            <a:extLst>
              <a:ext uri="{FF2B5EF4-FFF2-40B4-BE49-F238E27FC236}">
                <a16:creationId xmlns:a16="http://schemas.microsoft.com/office/drawing/2014/main" id="{AD75CBBD-000B-79CB-C31D-2435341A61A8}"/>
              </a:ext>
            </a:extLst>
          </p:cNvPr>
          <p:cNvSpPr/>
          <p:nvPr/>
        </p:nvSpPr>
        <p:spPr bwMode="auto">
          <a:xfrm>
            <a:off x="9114971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Safeguards available?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Human approval, explainable AI, model monitoring, manual fallback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F08B757D-3DD0-853A-E833-F84D57B61D8D}"/>
              </a:ext>
            </a:extLst>
          </p:cNvPr>
          <p:cNvSpPr/>
          <p:nvPr/>
        </p:nvSpPr>
        <p:spPr bwMode="auto">
          <a:xfrm>
            <a:off x="9094971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15" name="Rectangle 6014">
            <a:extLst>
              <a:ext uri="{FF2B5EF4-FFF2-40B4-BE49-F238E27FC236}">
                <a16:creationId xmlns:a16="http://schemas.microsoft.com/office/drawing/2014/main" id="{B89657F6-A419-38CE-57D7-4415488E8B2F}"/>
              </a:ext>
            </a:extLst>
          </p:cNvPr>
          <p:cNvSpPr/>
          <p:nvPr/>
        </p:nvSpPr>
        <p:spPr bwMode="auto">
          <a:xfrm>
            <a:off x="6189348" y="6129215"/>
            <a:ext cx="5760000" cy="602195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27" name="Rectangle 6026">
            <a:extLst>
              <a:ext uri="{FF2B5EF4-FFF2-40B4-BE49-F238E27FC236}">
                <a16:creationId xmlns:a16="http://schemas.microsoft.com/office/drawing/2014/main" id="{885A1119-55D2-CCCB-82BF-1783091D7C5F}"/>
              </a:ext>
            </a:extLst>
          </p:cNvPr>
          <p:cNvSpPr/>
          <p:nvPr/>
        </p:nvSpPr>
        <p:spPr bwMode="auto">
          <a:xfrm>
            <a:off x="6249348" y="6178217"/>
            <a:ext cx="5640000" cy="50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STRATEGIC FIT (BXT, 1–5)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Value 4.0  ·  Feasibility 2.9  ·  Invest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15" name="Rectangle 11314">
            <a:extLst>
              <a:ext uri="{FF2B5EF4-FFF2-40B4-BE49-F238E27FC236}">
                <a16:creationId xmlns:a16="http://schemas.microsoft.com/office/drawing/2014/main" id="{92D01C8C-3DEB-CDAC-4FC9-7440E137137E}"/>
              </a:ext>
            </a:extLst>
          </p:cNvPr>
          <p:cNvSpPr/>
          <p:nvPr/>
        </p:nvSpPr>
        <p:spPr bwMode="auto">
          <a:xfrm>
            <a:off x="9114971" y="3791962"/>
            <a:ext cx="2804000" cy="885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timeframe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1–3 months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4–6 months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✓  &gt; 6 months (estimate)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6408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6EEC-4488-5AA8-9821-B9B31157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4761CA5-64DD-6AD3-734A-413E3FF7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Operations copilot and proactive customer updates</a:t>
            </a:r>
          </a:p>
        </p:txBody>
      </p:sp>
      <p:sp>
        <p:nvSpPr>
          <p:cNvPr id="23" name="Donut 7">
            <a:extLst>
              <a:ext uri="{FF2B5EF4-FFF2-40B4-BE49-F238E27FC236}">
                <a16:creationId xmlns:a16="http://schemas.microsoft.com/office/drawing/2014/main" id="{8AA42ED3-0481-2FEE-1C1E-F7A17A8304A6}"/>
              </a:ext>
            </a:extLst>
          </p:cNvPr>
          <p:cNvSpPr/>
          <p:nvPr/>
        </p:nvSpPr>
        <p:spPr bwMode="auto">
          <a:xfrm>
            <a:off x="265793" y="702439"/>
            <a:ext cx="11684937" cy="296744"/>
          </a:xfrm>
          <a:prstGeom prst="rect">
            <a:avLst/>
          </a:prstGeom>
          <a:solidFill>
            <a:srgbClr val="8CE970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88E4C7-ACFC-A4D5-8A2C-6C0CFC175320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8CE970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4</a:t>
            </a:r>
          </a:p>
        </p:txBody>
      </p:sp>
      <p:sp>
        <p:nvSpPr>
          <p:cNvPr id="6040" name="Rectangle 6039">
            <a:extLst>
              <a:ext uri="{FF2B5EF4-FFF2-40B4-BE49-F238E27FC236}">
                <a16:creationId xmlns:a16="http://schemas.microsoft.com/office/drawing/2014/main" id="{FDA01809-1D09-F756-78E8-414380B75AC4}"/>
              </a:ext>
            </a:extLst>
          </p:cNvPr>
          <p:cNvSpPr/>
          <p:nvPr/>
        </p:nvSpPr>
        <p:spPr bwMode="auto">
          <a:xfrm>
            <a:off x="265792" y="1069903"/>
            <a:ext cx="5803025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54" name="Rectangle 6053">
            <a:extLst>
              <a:ext uri="{FF2B5EF4-FFF2-40B4-BE49-F238E27FC236}">
                <a16:creationId xmlns:a16="http://schemas.microsoft.com/office/drawing/2014/main" id="{D3C12529-33C5-664C-D5DE-B36DB8E837B1}"/>
              </a:ext>
            </a:extLst>
          </p:cNvPr>
          <p:cNvSpPr/>
          <p:nvPr/>
        </p:nvSpPr>
        <p:spPr bwMode="auto">
          <a:xfrm>
            <a:off x="325792" y="1159903"/>
            <a:ext cx="5683025" cy="37426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Problem to solve / opportunity to realise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THE CHALLENGE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Staff search SOPs, rosters and system screens under time pressure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Shift handovers and incident reports are written by hand — reporting should be better, faster, easier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Airline customers often hear about impact late; updates are ad-hoc calls and emails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IS SOLVED TODAY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Calls and messages to SIOC for answers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Manual templates for reports and airline notifications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RISK OF DOING NOTHING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Knowledge stays in people’s heads as the workforce ages; customer experience depends on who is on shift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69" name="Rectangle 6068">
            <a:extLst>
              <a:ext uri="{FF2B5EF4-FFF2-40B4-BE49-F238E27FC236}">
                <a16:creationId xmlns:a16="http://schemas.microsoft.com/office/drawing/2014/main" id="{B57EE440-56DF-4B96-B86D-EC0206386BA0}"/>
              </a:ext>
            </a:extLst>
          </p:cNvPr>
          <p:cNvSpPr/>
          <p:nvPr/>
        </p:nvSpPr>
        <p:spPr bwMode="auto">
          <a:xfrm>
            <a:off x="6147706" y="1069904"/>
            <a:ext cx="5803024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85" name="Rectangle 6084">
            <a:extLst>
              <a:ext uri="{FF2B5EF4-FFF2-40B4-BE49-F238E27FC236}">
                <a16:creationId xmlns:a16="http://schemas.microsoft.com/office/drawing/2014/main" id="{D2C3EC95-A30A-FF65-EEF2-3B223786BD46}"/>
              </a:ext>
            </a:extLst>
          </p:cNvPr>
          <p:cNvSpPr/>
          <p:nvPr/>
        </p:nvSpPr>
        <p:spPr bwMode="auto">
          <a:xfrm>
            <a:off x="6207706" y="1159904"/>
            <a:ext cx="5683024" cy="5044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What is your idea?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USE CASE DESCRIPTION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An operations assistant in Teams, built with Copilot Studio, that answers questions over live ops data and SOPs, guides irregular-ops procedures, auto-summarises shifts and incidents, and drafts SLA-aware updates to airlines for human approval.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WORKS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Ask: “Which flights at T3 are at risk of missing SLA in the next hour?”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Step-by-step SOP guidance for irregular operations, e.g. lightning stoppage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Auto-generated shift handover and incident reports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Drafted airline notifications, approved and sent from Teams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 SOLUTION COMPONENTS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Copilot Studio, Microsoft 365 Copilot, Microsoft Teams, Power Automate, Azure AI Search, Fabric data agents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DATA AND SYSTEMS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Use case 1 platform, SOP library, airline SLA terms, GroundStar rosters, incident logs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80369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03B6-0465-F7A1-B1E4-29453313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nut 7">
            <a:extLst>
              <a:ext uri="{FF2B5EF4-FFF2-40B4-BE49-F238E27FC236}">
                <a16:creationId xmlns:a16="http://schemas.microsoft.com/office/drawing/2014/main" id="{2B55605A-E4F8-903A-897F-5ECD1E8B9919}"/>
              </a:ext>
            </a:extLst>
          </p:cNvPr>
          <p:cNvSpPr/>
          <p:nvPr/>
        </p:nvSpPr>
        <p:spPr bwMode="auto">
          <a:xfrm>
            <a:off x="265792" y="687032"/>
            <a:ext cx="5760000" cy="323397"/>
          </a:xfrm>
          <a:prstGeom prst="rect">
            <a:avLst/>
          </a:prstGeom>
          <a:solidFill>
            <a:srgbClr val="8CE970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A3342B22-7389-2EE8-25BC-28AC51B9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Operations copilot and proactive customer updates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651280F-4850-A364-DD55-CFCECB4CCA34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8CE970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rgbClr val="000000"/>
                </a:solidFill>
                <a:latin typeface="Segoe UI Semibold"/>
                <a:ea typeface="Segoe UI" pitchFamily="34" charset="0"/>
                <a:cs typeface="Segoe UI" pitchFamily="34" charset="0"/>
              </a:rPr>
              <a:t>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Donut 7">
            <a:extLst>
              <a:ext uri="{FF2B5EF4-FFF2-40B4-BE49-F238E27FC236}">
                <a16:creationId xmlns:a16="http://schemas.microsoft.com/office/drawing/2014/main" id="{F69B3FB6-6C3D-B304-A8A7-C4EA66B1AE21}"/>
              </a:ext>
            </a:extLst>
          </p:cNvPr>
          <p:cNvSpPr/>
          <p:nvPr/>
        </p:nvSpPr>
        <p:spPr bwMode="auto">
          <a:xfrm>
            <a:off x="6189348" y="687032"/>
            <a:ext cx="5760000" cy="323397"/>
          </a:xfrm>
          <a:prstGeom prst="rect">
            <a:avLst/>
          </a:prstGeom>
          <a:solidFill>
            <a:srgbClr val="8CE970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6102" name="Rectangle 6101">
            <a:extLst>
              <a:ext uri="{FF2B5EF4-FFF2-40B4-BE49-F238E27FC236}">
                <a16:creationId xmlns:a16="http://schemas.microsoft.com/office/drawing/2014/main" id="{B39B05CE-93F2-FF6D-2B47-5E124969259D}"/>
              </a:ext>
            </a:extLst>
          </p:cNvPr>
          <p:cNvSpPr/>
          <p:nvPr/>
        </p:nvSpPr>
        <p:spPr bwMode="auto">
          <a:xfrm>
            <a:off x="265792" y="1079274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81AAB72C-7136-4424-AE75-43E6CC06A1B6}"/>
              </a:ext>
            </a:extLst>
          </p:cNvPr>
          <p:cNvSpPr/>
          <p:nvPr/>
        </p:nvSpPr>
        <p:spPr bwMode="auto">
          <a:xfrm>
            <a:off x="285792" y="1134274"/>
            <a:ext cx="5720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objective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Give every operator an assistant that finds answers, guides SOP execution and keeps airline customers informed proactively — reducing reliance on individual experience.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39" name="Rectangle 6138">
            <a:extLst>
              <a:ext uri="{FF2B5EF4-FFF2-40B4-BE49-F238E27FC236}">
                <a16:creationId xmlns:a16="http://schemas.microsoft.com/office/drawing/2014/main" id="{B659AB47-26B9-BA19-B700-F36989E7734C}"/>
              </a:ext>
            </a:extLst>
          </p:cNvPr>
          <p:cNvSpPr/>
          <p:nvPr/>
        </p:nvSpPr>
        <p:spPr bwMode="auto">
          <a:xfrm>
            <a:off x="265792" y="2408119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86B80752-DFE3-41E5-F2DD-4B701D6409FA}"/>
              </a:ext>
            </a:extLst>
          </p:cNvPr>
          <p:cNvSpPr/>
          <p:nvPr/>
        </p:nvSpPr>
        <p:spPr bwMode="auto">
          <a:xfrm>
            <a:off x="285792" y="2463119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results (proposed — baseline to confirm)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Shift handover and report preparation time down 50%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Airline notified within [x] min of a predicted SLA breach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≥ 70% of SOP questions answered without escalation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Airline satisfaction score up [x] pts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80" name="Rectangle 6179">
            <a:extLst>
              <a:ext uri="{FF2B5EF4-FFF2-40B4-BE49-F238E27FC236}">
                <a16:creationId xmlns:a16="http://schemas.microsoft.com/office/drawing/2014/main" id="{490AF89C-F4A7-FFC7-84F8-709DF23936E4}"/>
              </a:ext>
            </a:extLst>
          </p:cNvPr>
          <p:cNvSpPr/>
          <p:nvPr/>
        </p:nvSpPr>
        <p:spPr bwMode="auto">
          <a:xfrm>
            <a:off x="265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02" name="Rectangle 6201">
            <a:extLst>
              <a:ext uri="{FF2B5EF4-FFF2-40B4-BE49-F238E27FC236}">
                <a16:creationId xmlns:a16="http://schemas.microsoft.com/office/drawing/2014/main" id="{51E4031F-247D-8695-1567-2AD666414978}"/>
              </a:ext>
            </a:extLst>
          </p:cNvPr>
          <p:cNvSpPr/>
          <p:nvPr/>
        </p:nvSpPr>
        <p:spPr bwMode="auto">
          <a:xfrm>
            <a:off x="285792" y="3791962"/>
            <a:ext cx="2804000" cy="662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Strategic alignment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SPEAR: report better, faster, easier; custom copilot in DSM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25" name="Rectangle 6224">
            <a:extLst>
              <a:ext uri="{FF2B5EF4-FFF2-40B4-BE49-F238E27FC236}">
                <a16:creationId xmlns:a16="http://schemas.microsoft.com/office/drawing/2014/main" id="{BBA09980-5A60-B1E1-F23F-1E7B9D4B85F9}"/>
              </a:ext>
            </a:extLst>
          </p:cNvPr>
          <p:cNvSpPr/>
          <p:nvPr/>
        </p:nvSpPr>
        <p:spPr bwMode="auto">
          <a:xfrm>
            <a:off x="3181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49" name="Rectangle 6248">
            <a:extLst>
              <a:ext uri="{FF2B5EF4-FFF2-40B4-BE49-F238E27FC236}">
                <a16:creationId xmlns:a16="http://schemas.microsoft.com/office/drawing/2014/main" id="{56B570B5-9719-9EC5-2FBC-7FB17AD8BC29}"/>
              </a:ext>
            </a:extLst>
          </p:cNvPr>
          <p:cNvSpPr/>
          <p:nvPr/>
        </p:nvSpPr>
        <p:spPr bwMode="auto">
          <a:xfrm>
            <a:off x="3201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value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Productivity of scarce staff; knowledge capture; better airline experience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274" name="Rectangle 6273">
            <a:extLst>
              <a:ext uri="{FF2B5EF4-FFF2-40B4-BE49-F238E27FC236}">
                <a16:creationId xmlns:a16="http://schemas.microsoft.com/office/drawing/2014/main" id="{66817B97-FBD4-D4F4-B195-E7259826B3F0}"/>
              </a:ext>
            </a:extLst>
          </p:cNvPr>
          <p:cNvSpPr/>
          <p:nvPr/>
        </p:nvSpPr>
        <p:spPr bwMode="auto">
          <a:xfrm>
            <a:off x="265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300" name="Rectangle 6299">
            <a:extLst>
              <a:ext uri="{FF2B5EF4-FFF2-40B4-BE49-F238E27FC236}">
                <a16:creationId xmlns:a16="http://schemas.microsoft.com/office/drawing/2014/main" id="{18FA4EF8-FC15-0256-1697-3146AC7FF462}"/>
              </a:ext>
            </a:extLst>
          </p:cNvPr>
          <p:cNvSpPr/>
          <p:nvPr/>
        </p:nvSpPr>
        <p:spPr bwMode="auto">
          <a:xfrm>
            <a:off x="285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personas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Customer Service Lead, airline account managers, SIOC, team leads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327" name="Rectangle 6326">
            <a:extLst>
              <a:ext uri="{FF2B5EF4-FFF2-40B4-BE49-F238E27FC236}">
                <a16:creationId xmlns:a16="http://schemas.microsoft.com/office/drawing/2014/main" id="{FABB586B-9994-B5B4-7E16-75949C62D530}"/>
              </a:ext>
            </a:extLst>
          </p:cNvPr>
          <p:cNvSpPr/>
          <p:nvPr/>
        </p:nvSpPr>
        <p:spPr bwMode="auto">
          <a:xfrm>
            <a:off x="3181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355" name="Rectangle 6354">
            <a:extLst>
              <a:ext uri="{FF2B5EF4-FFF2-40B4-BE49-F238E27FC236}">
                <a16:creationId xmlns:a16="http://schemas.microsoft.com/office/drawing/2014/main" id="{549921F8-DFA8-C134-53B5-7CBC52F3FA68}"/>
              </a:ext>
            </a:extLst>
          </p:cNvPr>
          <p:cNvSpPr/>
          <p:nvPr/>
        </p:nvSpPr>
        <p:spPr bwMode="auto">
          <a:xfrm>
            <a:off x="3201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proposition appeal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High — natural-language answers inside Teams, where work already happens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384" name="Rectangle 6383">
            <a:extLst>
              <a:ext uri="{FF2B5EF4-FFF2-40B4-BE49-F238E27FC236}">
                <a16:creationId xmlns:a16="http://schemas.microsoft.com/office/drawing/2014/main" id="{34E989D3-F237-15D5-8268-CF1DED5A7321}"/>
              </a:ext>
            </a:extLst>
          </p:cNvPr>
          <p:cNvSpPr/>
          <p:nvPr/>
        </p:nvSpPr>
        <p:spPr bwMode="auto">
          <a:xfrm>
            <a:off x="265792" y="6129215"/>
            <a:ext cx="5760000" cy="6021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14" name="Rectangle 6413">
            <a:extLst>
              <a:ext uri="{FF2B5EF4-FFF2-40B4-BE49-F238E27FC236}">
                <a16:creationId xmlns:a16="http://schemas.microsoft.com/office/drawing/2014/main" id="{02F4E531-F8AC-C526-7ADB-56285BA7F7AA}"/>
              </a:ext>
            </a:extLst>
          </p:cNvPr>
          <p:cNvSpPr/>
          <p:nvPr/>
        </p:nvSpPr>
        <p:spPr bwMode="auto">
          <a:xfrm>
            <a:off x="285792" y="6164215"/>
            <a:ext cx="5720000" cy="472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Primary stakeholder accountable for OKRs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Customer Service Lead — [name TBC] · Customer Service / SIOC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45" name="Rectangle 6444">
            <a:extLst>
              <a:ext uri="{FF2B5EF4-FFF2-40B4-BE49-F238E27FC236}">
                <a16:creationId xmlns:a16="http://schemas.microsoft.com/office/drawing/2014/main" id="{8470F252-E8C2-3407-0D05-949099E6E17D}"/>
              </a:ext>
            </a:extLst>
          </p:cNvPr>
          <p:cNvSpPr/>
          <p:nvPr/>
        </p:nvSpPr>
        <p:spPr bwMode="auto">
          <a:xfrm>
            <a:off x="6189348" y="1079274"/>
            <a:ext cx="5760000" cy="25888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77" name="Rectangle 6476">
            <a:extLst>
              <a:ext uri="{FF2B5EF4-FFF2-40B4-BE49-F238E27FC236}">
                <a16:creationId xmlns:a16="http://schemas.microsoft.com/office/drawing/2014/main" id="{4E7AFB05-2CCE-D16F-C202-043220295451}"/>
              </a:ext>
            </a:extLst>
          </p:cNvPr>
          <p:cNvSpPr/>
          <p:nvPr/>
        </p:nvSpPr>
        <p:spPr bwMode="auto">
          <a:xfrm>
            <a:off x="6209348" y="1134274"/>
            <a:ext cx="5720000" cy="1615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Technology fit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Copilot Studio and Teams allow a working prototype in weeks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Grounded on SOPs and live ops data through standard connectors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Natural extension of the “custom copilot” already proposed for DSM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Sourcing: Copilot Studio + Microsoft 365 Copilot; low-code by SATS team with partner support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10" name="Rectangle 6509">
            <a:extLst>
              <a:ext uri="{FF2B5EF4-FFF2-40B4-BE49-F238E27FC236}">
                <a16:creationId xmlns:a16="http://schemas.microsoft.com/office/drawing/2014/main" id="{B655FD7D-F6E6-DA0A-AB42-DCC7F4C1F757}"/>
              </a:ext>
            </a:extLst>
          </p:cNvPr>
          <p:cNvSpPr/>
          <p:nvPr/>
        </p:nvSpPr>
        <p:spPr bwMode="auto">
          <a:xfrm>
            <a:off x="6189348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44" name="Rectangle 6543">
            <a:extLst>
              <a:ext uri="{FF2B5EF4-FFF2-40B4-BE49-F238E27FC236}">
                <a16:creationId xmlns:a16="http://schemas.microsoft.com/office/drawing/2014/main" id="{158CBDC8-19DE-928B-1F8D-47AA315717BE}"/>
              </a:ext>
            </a:extLst>
          </p:cNvPr>
          <p:cNvSpPr/>
          <p:nvPr/>
        </p:nvSpPr>
        <p:spPr bwMode="auto">
          <a:xfrm>
            <a:off x="6209348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resistance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Low–medium — easy to adopt; frontline device access and trust to address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890780E7-1D96-8222-F5C1-C29F582331AB}"/>
              </a:ext>
            </a:extLst>
          </p:cNvPr>
          <p:cNvSpPr/>
          <p:nvPr/>
        </p:nvSpPr>
        <p:spPr bwMode="auto">
          <a:xfrm>
            <a:off x="9094971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652" name="Rectangle 6651">
            <a:extLst>
              <a:ext uri="{FF2B5EF4-FFF2-40B4-BE49-F238E27FC236}">
                <a16:creationId xmlns:a16="http://schemas.microsoft.com/office/drawing/2014/main" id="{D2D7349E-090D-0684-046C-3213C42FE73F}"/>
              </a:ext>
            </a:extLst>
          </p:cNvPr>
          <p:cNvSpPr/>
          <p:nvPr/>
        </p:nvSpPr>
        <p:spPr bwMode="auto">
          <a:xfrm>
            <a:off x="6189348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690" name="Rectangle 6689">
            <a:extLst>
              <a:ext uri="{FF2B5EF4-FFF2-40B4-BE49-F238E27FC236}">
                <a16:creationId xmlns:a16="http://schemas.microsoft.com/office/drawing/2014/main" id="{5DD8B736-0BDC-237F-E314-563EB9E07668}"/>
              </a:ext>
            </a:extLst>
          </p:cNvPr>
          <p:cNvSpPr/>
          <p:nvPr/>
        </p:nvSpPr>
        <p:spPr bwMode="auto">
          <a:xfrm>
            <a:off x="6209348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Implementation risks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Answer accuracy on SOPs; frontline device and licence coverage; content quality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729" name="Rectangle 6728">
            <a:extLst>
              <a:ext uri="{FF2B5EF4-FFF2-40B4-BE49-F238E27FC236}">
                <a16:creationId xmlns:a16="http://schemas.microsoft.com/office/drawing/2014/main" id="{C309E556-3F5B-3B20-997C-49544BBC79A0}"/>
              </a:ext>
            </a:extLst>
          </p:cNvPr>
          <p:cNvSpPr/>
          <p:nvPr/>
        </p:nvSpPr>
        <p:spPr bwMode="auto">
          <a:xfrm>
            <a:off x="9094971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769" name="Rectangle 6768">
            <a:extLst>
              <a:ext uri="{FF2B5EF4-FFF2-40B4-BE49-F238E27FC236}">
                <a16:creationId xmlns:a16="http://schemas.microsoft.com/office/drawing/2014/main" id="{6AD11713-0037-FAEB-74CC-82BB3C704DF7}"/>
              </a:ext>
            </a:extLst>
          </p:cNvPr>
          <p:cNvSpPr/>
          <p:nvPr/>
        </p:nvSpPr>
        <p:spPr bwMode="auto">
          <a:xfrm>
            <a:off x="9114971" y="4988089"/>
            <a:ext cx="2804000" cy="662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Safeguards available?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Cited answers; human approval before sends; DLP and labels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810" name="Rectangle 6809">
            <a:extLst>
              <a:ext uri="{FF2B5EF4-FFF2-40B4-BE49-F238E27FC236}">
                <a16:creationId xmlns:a16="http://schemas.microsoft.com/office/drawing/2014/main" id="{7857667F-21FE-8E46-013F-CC371316B53E}"/>
              </a:ext>
            </a:extLst>
          </p:cNvPr>
          <p:cNvSpPr/>
          <p:nvPr/>
        </p:nvSpPr>
        <p:spPr bwMode="auto">
          <a:xfrm>
            <a:off x="6189348" y="6129215"/>
            <a:ext cx="5760000" cy="602195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852" name="Rectangle 6851">
            <a:extLst>
              <a:ext uri="{FF2B5EF4-FFF2-40B4-BE49-F238E27FC236}">
                <a16:creationId xmlns:a16="http://schemas.microsoft.com/office/drawing/2014/main" id="{C4103B51-4F5A-CCA6-22FD-51A7E783806E}"/>
              </a:ext>
            </a:extLst>
          </p:cNvPr>
          <p:cNvSpPr/>
          <p:nvPr/>
        </p:nvSpPr>
        <p:spPr bwMode="auto">
          <a:xfrm>
            <a:off x="6249348" y="6178217"/>
            <a:ext cx="5640000" cy="50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STRATEGIC FIT (BXT, 1–5)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Value 3.6  ·  Feasibility 3.8  ·  Quick win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29" name="Rectangle 11328">
            <a:extLst>
              <a:ext uri="{FF2B5EF4-FFF2-40B4-BE49-F238E27FC236}">
                <a16:creationId xmlns:a16="http://schemas.microsoft.com/office/drawing/2014/main" id="{D4232FFB-63F5-F664-4E34-100BE1B995FF}"/>
              </a:ext>
            </a:extLst>
          </p:cNvPr>
          <p:cNvSpPr/>
          <p:nvPr/>
        </p:nvSpPr>
        <p:spPr bwMode="auto">
          <a:xfrm>
            <a:off x="9114971" y="3791962"/>
            <a:ext cx="2804000" cy="885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timeframe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✓  1–3 months (estimate)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4–6 months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&gt; 6 months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3128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878D-57CE-2B2F-B9CA-82ABD943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8A1D9F9D-9AD0-D527-110F-8427FDBC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Connected GSE and asset utilisation</a:t>
            </a:r>
          </a:p>
        </p:txBody>
      </p:sp>
      <p:sp>
        <p:nvSpPr>
          <p:cNvPr id="23" name="Donut 7">
            <a:extLst>
              <a:ext uri="{FF2B5EF4-FFF2-40B4-BE49-F238E27FC236}">
                <a16:creationId xmlns:a16="http://schemas.microsoft.com/office/drawing/2014/main" id="{4A25D611-53D7-921E-25EC-8C7F84CED339}"/>
              </a:ext>
            </a:extLst>
          </p:cNvPr>
          <p:cNvSpPr/>
          <p:nvPr/>
        </p:nvSpPr>
        <p:spPr bwMode="auto">
          <a:xfrm>
            <a:off x="265793" y="702439"/>
            <a:ext cx="11684937" cy="296744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34A27BE-53D4-AF0C-AD8B-2969F4EB4BB7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" pitchFamily="34" charset="0"/>
              </a:rPr>
              <a:t>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895" name="Rectangle 6894">
            <a:extLst>
              <a:ext uri="{FF2B5EF4-FFF2-40B4-BE49-F238E27FC236}">
                <a16:creationId xmlns:a16="http://schemas.microsoft.com/office/drawing/2014/main" id="{ACC63FDD-A308-3B88-7176-A7C0175DB4FD}"/>
              </a:ext>
            </a:extLst>
          </p:cNvPr>
          <p:cNvSpPr/>
          <p:nvPr/>
        </p:nvSpPr>
        <p:spPr bwMode="auto">
          <a:xfrm>
            <a:off x="265792" y="1069903"/>
            <a:ext cx="5803025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939" name="Rectangle 6938">
            <a:extLst>
              <a:ext uri="{FF2B5EF4-FFF2-40B4-BE49-F238E27FC236}">
                <a16:creationId xmlns:a16="http://schemas.microsoft.com/office/drawing/2014/main" id="{45B78930-BC2A-D075-AE9D-88D0525D7C9E}"/>
              </a:ext>
            </a:extLst>
          </p:cNvPr>
          <p:cNvSpPr/>
          <p:nvPr/>
        </p:nvSpPr>
        <p:spPr bwMode="auto">
          <a:xfrm>
            <a:off x="325792" y="1159903"/>
            <a:ext cx="5683025" cy="3964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Problem to solve / opportunity to realise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THE CHALLENGE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Carts, dollies and GSE are pre-allocated on planning sheets; late arrivals lock assets that then sit idle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Equipment is hard to locate, so staff search the apron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Adding assets is costly and constrained by apron space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IS SOLVED TODAY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iFleet for motorised GSE; non-motorised equipment tracking being introduced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Allocation by planning sheet, radio and experience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RISK OF DOING NOTHING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Fleet grows faster than throughput, adding capex and depreciation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984" name="Rectangle 6983">
            <a:extLst>
              <a:ext uri="{FF2B5EF4-FFF2-40B4-BE49-F238E27FC236}">
                <a16:creationId xmlns:a16="http://schemas.microsoft.com/office/drawing/2014/main" id="{43D50310-1D6D-000F-9790-0FE9BEF8C9B1}"/>
              </a:ext>
            </a:extLst>
          </p:cNvPr>
          <p:cNvSpPr/>
          <p:nvPr/>
        </p:nvSpPr>
        <p:spPr bwMode="auto">
          <a:xfrm>
            <a:off x="6147706" y="1069904"/>
            <a:ext cx="5803024" cy="5577417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030" name="Rectangle 7029">
            <a:extLst>
              <a:ext uri="{FF2B5EF4-FFF2-40B4-BE49-F238E27FC236}">
                <a16:creationId xmlns:a16="http://schemas.microsoft.com/office/drawing/2014/main" id="{76E2F2FB-BE7B-4A28-FAEB-D1968376D347}"/>
              </a:ext>
            </a:extLst>
          </p:cNvPr>
          <p:cNvSpPr/>
          <p:nvPr/>
        </p:nvSpPr>
        <p:spPr bwMode="auto">
          <a:xfrm>
            <a:off x="6207706" y="1159904"/>
            <a:ext cx="5683024" cy="5044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What is your idea?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USE CASE DESCRIPTION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Track every GSE unit and cart in real time and allocate dynamically: IoT location and status stream into Fabric, AI recommends allocations against live ETAs, and towing instructions go to mobile devices — from planned to real-time asset operations.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IT WORKS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IoT trackers stream location and status: available, waiting, engaged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Live asset map by pier in the control tower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Allocation recommendations driven by ETA / ATA and turnaround needs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Predictive maintenance signals from usage and telemetry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MICROSOFT SOLUTION COMPONENTS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Azure IoT Hub / Event Hubs, Fabric Real-Time Intelligence, Azure Maps, Azure Machine Learning, Power Apps</a:t>
            </a:r>
          </a:p>
          <a:p>
            <a:pPr algn="l">
              <a:buNone/>
            </a:pPr>
            <a:r>
              <a:rPr lang="en-US" sz="8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DATA AND SYSTEMS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iFleet, non-motorised equipment tracking, flight ETA / ATA, turnaround plans, maintenance records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085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4C28-AB3D-9A70-9A4D-993551A8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nut 7">
            <a:extLst>
              <a:ext uri="{FF2B5EF4-FFF2-40B4-BE49-F238E27FC236}">
                <a16:creationId xmlns:a16="http://schemas.microsoft.com/office/drawing/2014/main" id="{7107A728-9F7F-3F61-E277-4679D8660163}"/>
              </a:ext>
            </a:extLst>
          </p:cNvPr>
          <p:cNvSpPr/>
          <p:nvPr/>
        </p:nvSpPr>
        <p:spPr bwMode="auto">
          <a:xfrm>
            <a:off x="265792" y="687032"/>
            <a:ext cx="5760000" cy="323397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CFDD9723-0EC3-2410-D8AA-371C6059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9" y="210678"/>
            <a:ext cx="8193024" cy="246221"/>
          </a:xfrm>
        </p:spPr>
        <p:txBody>
          <a:bodyPr/>
          <a:lstStyle/>
          <a:p>
            <a:r>
              <a:rPr lang="en-US" sz="1600" noProof="0"/>
              <a:t>Connected GSE and asset utilisation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C73B27-4F5A-E1E4-A7B5-385C728B99ED}"/>
              </a:ext>
            </a:extLst>
          </p:cNvPr>
          <p:cNvSpPr/>
          <p:nvPr/>
        </p:nvSpPr>
        <p:spPr bwMode="auto">
          <a:xfrm>
            <a:off x="265792" y="203360"/>
            <a:ext cx="265176" cy="260922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>
                <a:solidFill>
                  <a:srgbClr val="FFFFFF"/>
                </a:solidFill>
                <a:latin typeface="Segoe UI Semibold"/>
                <a:ea typeface="Segoe UI" pitchFamily="34" charset="0"/>
                <a:cs typeface="Segoe UI" pitchFamily="34" charset="0"/>
              </a:rPr>
              <a:t>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Donut 7">
            <a:extLst>
              <a:ext uri="{FF2B5EF4-FFF2-40B4-BE49-F238E27FC236}">
                <a16:creationId xmlns:a16="http://schemas.microsoft.com/office/drawing/2014/main" id="{AE035CFA-4E4C-150C-4929-A009DD752FCD}"/>
              </a:ext>
            </a:extLst>
          </p:cNvPr>
          <p:cNvSpPr/>
          <p:nvPr/>
        </p:nvSpPr>
        <p:spPr bwMode="auto">
          <a:xfrm>
            <a:off x="6189348" y="687032"/>
            <a:ext cx="5760000" cy="323397"/>
          </a:xfrm>
          <a:prstGeom prst="rect">
            <a:avLst/>
          </a:prstGeom>
          <a:solidFill>
            <a:srgbClr val="225B62"/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7077" name="Rectangle 7076">
            <a:extLst>
              <a:ext uri="{FF2B5EF4-FFF2-40B4-BE49-F238E27FC236}">
                <a16:creationId xmlns:a16="http://schemas.microsoft.com/office/drawing/2014/main" id="{7AD7F598-44D6-7B3F-31B1-7E6FA59CA4BE}"/>
              </a:ext>
            </a:extLst>
          </p:cNvPr>
          <p:cNvSpPr/>
          <p:nvPr/>
        </p:nvSpPr>
        <p:spPr bwMode="auto">
          <a:xfrm>
            <a:off x="265792" y="1079274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125" name="Rectangle 7124">
            <a:extLst>
              <a:ext uri="{FF2B5EF4-FFF2-40B4-BE49-F238E27FC236}">
                <a16:creationId xmlns:a16="http://schemas.microsoft.com/office/drawing/2014/main" id="{F976FFD9-3FE5-E235-08A0-D16745C945C4}"/>
              </a:ext>
            </a:extLst>
          </p:cNvPr>
          <p:cNvSpPr/>
          <p:nvPr/>
        </p:nvSpPr>
        <p:spPr bwMode="auto">
          <a:xfrm>
            <a:off x="285792" y="1134274"/>
            <a:ext cx="5720000" cy="662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objective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Raise asset utilisation and cut idle and search time, so SATS grows throughput without growing the fleet at the same rate.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174" name="Rectangle 7173">
            <a:extLst>
              <a:ext uri="{FF2B5EF4-FFF2-40B4-BE49-F238E27FC236}">
                <a16:creationId xmlns:a16="http://schemas.microsoft.com/office/drawing/2014/main" id="{0736B4BE-8B55-1928-6F18-A61C70D501AC}"/>
              </a:ext>
            </a:extLst>
          </p:cNvPr>
          <p:cNvSpPr/>
          <p:nvPr/>
        </p:nvSpPr>
        <p:spPr bwMode="auto">
          <a:xfrm>
            <a:off x="265792" y="2408119"/>
            <a:ext cx="5760000" cy="12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24" name="Rectangle 7223">
            <a:extLst>
              <a:ext uri="{FF2B5EF4-FFF2-40B4-BE49-F238E27FC236}">
                <a16:creationId xmlns:a16="http://schemas.microsoft.com/office/drawing/2014/main" id="{1B1AF23B-3736-D586-25B0-885A42E192CB}"/>
              </a:ext>
            </a:extLst>
          </p:cNvPr>
          <p:cNvSpPr/>
          <p:nvPr/>
        </p:nvSpPr>
        <p:spPr bwMode="auto">
          <a:xfrm>
            <a:off x="285792" y="2463119"/>
            <a:ext cx="5720000" cy="10439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results (proposed — baseline to confirm)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Cart allocation time per turnaround down up to 40%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GSE utilisation up [x] pts; idle time down [x]%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Time spent searching for equipment down [x]%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[x]% of planned cart and GSE purchases deferred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275" name="Rectangle 7274">
            <a:extLst>
              <a:ext uri="{FF2B5EF4-FFF2-40B4-BE49-F238E27FC236}">
                <a16:creationId xmlns:a16="http://schemas.microsoft.com/office/drawing/2014/main" id="{29B64E3D-BB80-1D38-D6E1-55DCA5A12D9D}"/>
              </a:ext>
            </a:extLst>
          </p:cNvPr>
          <p:cNvSpPr/>
          <p:nvPr/>
        </p:nvSpPr>
        <p:spPr bwMode="auto">
          <a:xfrm>
            <a:off x="265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27" name="Rectangle 7326">
            <a:extLst>
              <a:ext uri="{FF2B5EF4-FFF2-40B4-BE49-F238E27FC236}">
                <a16:creationId xmlns:a16="http://schemas.microsoft.com/office/drawing/2014/main" id="{D5CDF3E3-7CF9-4885-EFD9-C86656F72C92}"/>
              </a:ext>
            </a:extLst>
          </p:cNvPr>
          <p:cNvSpPr/>
          <p:nvPr/>
        </p:nvSpPr>
        <p:spPr bwMode="auto">
          <a:xfrm>
            <a:off x="285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Strategic alignment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SPEAR: better sensing (IIoT); throughput within infrastructure constraints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80" name="Rectangle 7379">
            <a:extLst>
              <a:ext uri="{FF2B5EF4-FFF2-40B4-BE49-F238E27FC236}">
                <a16:creationId xmlns:a16="http://schemas.microsoft.com/office/drawing/2014/main" id="{22EF7315-F71D-5481-DBC1-A7408B7826CA}"/>
              </a:ext>
            </a:extLst>
          </p:cNvPr>
          <p:cNvSpPr/>
          <p:nvPr/>
        </p:nvSpPr>
        <p:spPr bwMode="auto">
          <a:xfrm>
            <a:off x="3181792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434" name="Rectangle 7433">
            <a:extLst>
              <a:ext uri="{FF2B5EF4-FFF2-40B4-BE49-F238E27FC236}">
                <a16:creationId xmlns:a16="http://schemas.microsoft.com/office/drawing/2014/main" id="{C0021B13-3DA2-285E-B841-FD7F4E9FB0BB}"/>
              </a:ext>
            </a:extLst>
          </p:cNvPr>
          <p:cNvSpPr/>
          <p:nvPr/>
        </p:nvSpPr>
        <p:spPr bwMode="auto">
          <a:xfrm>
            <a:off x="3201792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Business value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Capex avoidance, lower depreciation, fewer delays from missing equipment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489" name="Rectangle 7488">
            <a:extLst>
              <a:ext uri="{FF2B5EF4-FFF2-40B4-BE49-F238E27FC236}">
                <a16:creationId xmlns:a16="http://schemas.microsoft.com/office/drawing/2014/main" id="{DA401721-E96E-C541-A42D-87A4046FF2B2}"/>
              </a:ext>
            </a:extLst>
          </p:cNvPr>
          <p:cNvSpPr/>
          <p:nvPr/>
        </p:nvSpPr>
        <p:spPr bwMode="auto">
          <a:xfrm>
            <a:off x="265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545" name="Rectangle 7544">
            <a:extLst>
              <a:ext uri="{FF2B5EF4-FFF2-40B4-BE49-F238E27FC236}">
                <a16:creationId xmlns:a16="http://schemas.microsoft.com/office/drawing/2014/main" id="{DE08C2F5-B63B-183B-90A0-2CCFF0FE89EE}"/>
              </a:ext>
            </a:extLst>
          </p:cNvPr>
          <p:cNvSpPr/>
          <p:nvPr/>
        </p:nvSpPr>
        <p:spPr bwMode="auto">
          <a:xfrm>
            <a:off x="285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Key personas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Fleet / Asset Lead, ramp and baggage leads, tractor drivers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602" name="Rectangle 7601">
            <a:extLst>
              <a:ext uri="{FF2B5EF4-FFF2-40B4-BE49-F238E27FC236}">
                <a16:creationId xmlns:a16="http://schemas.microsoft.com/office/drawing/2014/main" id="{89D5260A-E084-455F-5CB4-494C1AA4BF41}"/>
              </a:ext>
            </a:extLst>
          </p:cNvPr>
          <p:cNvSpPr/>
          <p:nvPr/>
        </p:nvSpPr>
        <p:spPr bwMode="auto">
          <a:xfrm>
            <a:off x="3181792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660" name="Rectangle 7659">
            <a:extLst>
              <a:ext uri="{FF2B5EF4-FFF2-40B4-BE49-F238E27FC236}">
                <a16:creationId xmlns:a16="http://schemas.microsoft.com/office/drawing/2014/main" id="{3E4335CC-F854-B618-14A4-826BA6A59449}"/>
              </a:ext>
            </a:extLst>
          </p:cNvPr>
          <p:cNvSpPr/>
          <p:nvPr/>
        </p:nvSpPr>
        <p:spPr bwMode="auto">
          <a:xfrm>
            <a:off x="3201792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Value proposition appeal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Medium–high — less searching; drivers must follow mobile instructions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719" name="Rectangle 7718">
            <a:extLst>
              <a:ext uri="{FF2B5EF4-FFF2-40B4-BE49-F238E27FC236}">
                <a16:creationId xmlns:a16="http://schemas.microsoft.com/office/drawing/2014/main" id="{58735D4B-572E-EF17-231E-980E12CFBD00}"/>
              </a:ext>
            </a:extLst>
          </p:cNvPr>
          <p:cNvSpPr/>
          <p:nvPr/>
        </p:nvSpPr>
        <p:spPr bwMode="auto">
          <a:xfrm>
            <a:off x="265792" y="6129215"/>
            <a:ext cx="5760000" cy="6021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779" name="Rectangle 7778">
            <a:extLst>
              <a:ext uri="{FF2B5EF4-FFF2-40B4-BE49-F238E27FC236}">
                <a16:creationId xmlns:a16="http://schemas.microsoft.com/office/drawing/2014/main" id="{758CA588-C280-FDCC-423B-7CBE7B5DA442}"/>
              </a:ext>
            </a:extLst>
          </p:cNvPr>
          <p:cNvSpPr/>
          <p:nvPr/>
        </p:nvSpPr>
        <p:spPr bwMode="auto">
          <a:xfrm>
            <a:off x="285792" y="6164215"/>
            <a:ext cx="5720000" cy="472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Primary stakeholder accountable for OKRs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Fleet / Asset Lead — [name TBC] · Ground Ops — GSE fleet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840" name="Rectangle 7839">
            <a:extLst>
              <a:ext uri="{FF2B5EF4-FFF2-40B4-BE49-F238E27FC236}">
                <a16:creationId xmlns:a16="http://schemas.microsoft.com/office/drawing/2014/main" id="{5D3C3605-4389-2358-38D5-FE61AFAEA05A}"/>
              </a:ext>
            </a:extLst>
          </p:cNvPr>
          <p:cNvSpPr/>
          <p:nvPr/>
        </p:nvSpPr>
        <p:spPr bwMode="auto">
          <a:xfrm>
            <a:off x="6189348" y="1079274"/>
            <a:ext cx="5760000" cy="258884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02" name="Rectangle 7901">
            <a:extLst>
              <a:ext uri="{FF2B5EF4-FFF2-40B4-BE49-F238E27FC236}">
                <a16:creationId xmlns:a16="http://schemas.microsoft.com/office/drawing/2014/main" id="{E1BA4BFC-7CC4-A395-1E40-DF495B391340}"/>
              </a:ext>
            </a:extLst>
          </p:cNvPr>
          <p:cNvSpPr/>
          <p:nvPr/>
        </p:nvSpPr>
        <p:spPr bwMode="auto">
          <a:xfrm>
            <a:off x="6209348" y="1134274"/>
            <a:ext cx="5720000" cy="1615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Technology fit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Reference in the SPEAR playback: connected carts cut allocation time from 1:15h to 0:45h (40%)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Extends iFleet and the non-motorised equipment tracking already planned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Tracker hardware and airside connectivity need to be selected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•  Sourcing: Azure IoT + Fabric; IoT hardware partner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65" name="Rectangle 7964">
            <a:extLst>
              <a:ext uri="{FF2B5EF4-FFF2-40B4-BE49-F238E27FC236}">
                <a16:creationId xmlns:a16="http://schemas.microsoft.com/office/drawing/2014/main" id="{945363C9-87DA-3711-81FF-610DFC271189}"/>
              </a:ext>
            </a:extLst>
          </p:cNvPr>
          <p:cNvSpPr/>
          <p:nvPr/>
        </p:nvSpPr>
        <p:spPr bwMode="auto">
          <a:xfrm>
            <a:off x="6189348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29" name="Rectangle 8028">
            <a:extLst>
              <a:ext uri="{FF2B5EF4-FFF2-40B4-BE49-F238E27FC236}">
                <a16:creationId xmlns:a16="http://schemas.microsoft.com/office/drawing/2014/main" id="{6AB2E52F-E94A-B72D-CFC4-EAA00AB67511}"/>
              </a:ext>
            </a:extLst>
          </p:cNvPr>
          <p:cNvSpPr/>
          <p:nvPr/>
        </p:nvSpPr>
        <p:spPr bwMode="auto">
          <a:xfrm>
            <a:off x="6209348" y="3791962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resistance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Medium — new mobile workflows; workforce concerns about tracking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94" name="Rectangle 8093">
            <a:extLst>
              <a:ext uri="{FF2B5EF4-FFF2-40B4-BE49-F238E27FC236}">
                <a16:creationId xmlns:a16="http://schemas.microsoft.com/office/drawing/2014/main" id="{DC975170-4106-6923-8A34-0052DEFB0741}"/>
              </a:ext>
            </a:extLst>
          </p:cNvPr>
          <p:cNvSpPr/>
          <p:nvPr/>
        </p:nvSpPr>
        <p:spPr bwMode="auto">
          <a:xfrm>
            <a:off x="9094971" y="3736962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227" name="Rectangle 8226">
            <a:extLst>
              <a:ext uri="{FF2B5EF4-FFF2-40B4-BE49-F238E27FC236}">
                <a16:creationId xmlns:a16="http://schemas.microsoft.com/office/drawing/2014/main" id="{7DE763EA-1E50-5D78-CDF5-2A99F6A21DDE}"/>
              </a:ext>
            </a:extLst>
          </p:cNvPr>
          <p:cNvSpPr/>
          <p:nvPr/>
        </p:nvSpPr>
        <p:spPr bwMode="auto">
          <a:xfrm>
            <a:off x="6189348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295" name="Rectangle 8294">
            <a:extLst>
              <a:ext uri="{FF2B5EF4-FFF2-40B4-BE49-F238E27FC236}">
                <a16:creationId xmlns:a16="http://schemas.microsoft.com/office/drawing/2014/main" id="{A6D3922A-5090-BC9B-7671-BC0521947B40}"/>
              </a:ext>
            </a:extLst>
          </p:cNvPr>
          <p:cNvSpPr/>
          <p:nvPr/>
        </p:nvSpPr>
        <p:spPr bwMode="auto">
          <a:xfrm>
            <a:off x="6209348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Implementation risks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Tracker durability airside; location accuracy; iFleet link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64" name="Rectangle 8363">
            <a:extLst>
              <a:ext uri="{FF2B5EF4-FFF2-40B4-BE49-F238E27FC236}">
                <a16:creationId xmlns:a16="http://schemas.microsoft.com/office/drawing/2014/main" id="{D27DCF60-F003-14CA-7D43-6A1EBE3B10EE}"/>
              </a:ext>
            </a:extLst>
          </p:cNvPr>
          <p:cNvSpPr/>
          <p:nvPr/>
        </p:nvSpPr>
        <p:spPr bwMode="auto">
          <a:xfrm>
            <a:off x="9094971" y="4933089"/>
            <a:ext cx="2844000" cy="112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34" name="Rectangle 8433">
            <a:extLst>
              <a:ext uri="{FF2B5EF4-FFF2-40B4-BE49-F238E27FC236}">
                <a16:creationId xmlns:a16="http://schemas.microsoft.com/office/drawing/2014/main" id="{BB787998-53DA-CDC0-B94F-DB3BA850DAC4}"/>
              </a:ext>
            </a:extLst>
          </p:cNvPr>
          <p:cNvSpPr/>
          <p:nvPr/>
        </p:nvSpPr>
        <p:spPr bwMode="auto">
          <a:xfrm>
            <a:off x="9114971" y="4988089"/>
            <a:ext cx="28040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Safeguards available?</a:t>
            </a:r>
          </a:p>
          <a:p>
            <a:pPr algn="l">
              <a:buNone/>
            </a:pPr>
            <a:r>
              <a:rPr lang="en-US" sz="12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Track assets, not people; device airside approval; secure device identity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505" name="Rectangle 8504">
            <a:extLst>
              <a:ext uri="{FF2B5EF4-FFF2-40B4-BE49-F238E27FC236}">
                <a16:creationId xmlns:a16="http://schemas.microsoft.com/office/drawing/2014/main" id="{B3D5D83C-11A4-DE7D-2969-1EEC9248CE04}"/>
              </a:ext>
            </a:extLst>
          </p:cNvPr>
          <p:cNvSpPr/>
          <p:nvPr/>
        </p:nvSpPr>
        <p:spPr bwMode="auto">
          <a:xfrm>
            <a:off x="6189348" y="6129215"/>
            <a:ext cx="5760000" cy="602195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577" name="Rectangle 8576">
            <a:extLst>
              <a:ext uri="{FF2B5EF4-FFF2-40B4-BE49-F238E27FC236}">
                <a16:creationId xmlns:a16="http://schemas.microsoft.com/office/drawing/2014/main" id="{2C6B1158-F70D-ABF5-DAC5-B1F36BCCBC80}"/>
              </a:ext>
            </a:extLst>
          </p:cNvPr>
          <p:cNvSpPr/>
          <p:nvPr/>
        </p:nvSpPr>
        <p:spPr bwMode="auto">
          <a:xfrm>
            <a:off x="6249348" y="6178217"/>
            <a:ext cx="5640000" cy="504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STRATEGIC FIT (BXT, 1–5)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Value 2.8  ·  Feasibility 3.4  ·  Test and learn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44" name="Rectangle 11343">
            <a:extLst>
              <a:ext uri="{FF2B5EF4-FFF2-40B4-BE49-F238E27FC236}">
                <a16:creationId xmlns:a16="http://schemas.microsoft.com/office/drawing/2014/main" id="{66067DA6-18F4-1950-4863-C089A34EB7EB}"/>
              </a:ext>
            </a:extLst>
          </p:cNvPr>
          <p:cNvSpPr/>
          <p:nvPr/>
        </p:nvSpPr>
        <p:spPr bwMode="auto">
          <a:xfrm>
            <a:off x="9114971" y="3791962"/>
            <a:ext cx="2804000" cy="885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Change timeframe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1–3 months</a:t>
            </a:r>
          </a:p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✓  4–6 months (estimate)</a:t>
            </a:r>
          </a:p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     &gt; 6 months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80089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4" name="Rectangle 10533">
            <a:extLst>
              <a:ext uri="{FF2B5EF4-FFF2-40B4-BE49-F238E27FC236}">
                <a16:creationId xmlns:a16="http://schemas.microsoft.com/office/drawing/2014/main" id="{F6EC4436-AE1A-D3FA-7518-FF6D6EEFD78E}"/>
              </a:ext>
            </a:extLst>
          </p:cNvPr>
          <p:cNvSpPr/>
          <p:nvPr/>
        </p:nvSpPr>
        <p:spPr bwMode="auto">
          <a:xfrm>
            <a:off x="269583" y="150000"/>
            <a:ext cx="9052834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91F2C"/>
                </a:solidFill>
                <a:effectLst/>
                <a:latin typeface="Segoe UI Semibold" panose="020B0702040204020203" pitchFamily="34" charset="0"/>
              </a:rPr>
              <a:t>How the use cases score on value and feasibility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2F600B-695D-4758-AA46-67CE7FE2E1B2}"/>
              </a:ext>
            </a:extLst>
          </p:cNvPr>
          <p:cNvGraphicFramePr>
            <a:graphicFrameLocks noGrp="1"/>
          </p:cNvGraphicFramePr>
          <p:nvPr/>
        </p:nvGraphicFramePr>
        <p:xfrm>
          <a:off x="269583" y="800000"/>
          <a:ext cx="8128002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2551906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33643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983106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2403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555747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8240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Value (business)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Experience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Technical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Feasibility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Quadrant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4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1. Operational data foundation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Quick win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215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2. AI operations control tower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Quick win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1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 Disruption prediction &amp; 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Invest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29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4. Ops copilot &amp; proactive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Quick win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191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5. Connected GSE &amp; assets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3.4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Test and 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951502"/>
                  </a:ext>
                </a:extLst>
              </a:tr>
            </a:tbl>
          </a:graphicData>
        </a:graphic>
      </p:graphicFrame>
      <p:sp>
        <p:nvSpPr>
          <p:cNvPr id="11361" name="Rectangle 11360">
            <a:extLst>
              <a:ext uri="{FF2B5EF4-FFF2-40B4-BE49-F238E27FC236}">
                <a16:creationId xmlns:a16="http://schemas.microsoft.com/office/drawing/2014/main" id="{32EC9F34-7C2F-70B0-E1C1-A6D8C15E3737}"/>
              </a:ext>
            </a:extLst>
          </p:cNvPr>
          <p:cNvSpPr/>
          <p:nvPr/>
        </p:nvSpPr>
        <p:spPr bwMode="auto">
          <a:xfrm>
            <a:off x="8580000" y="800000"/>
            <a:ext cx="3342417" cy="1650000"/>
          </a:xfrm>
          <a:prstGeom prst="rect">
            <a:avLst/>
          </a:prstGeom>
          <a:solidFill>
            <a:srgbClr val="E3EEEF"/>
          </a:solidFill>
          <a:ln w="9525">
            <a:solidFill>
              <a:srgbClr val="E3EEE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79" name="Rectangle 11378">
            <a:extLst>
              <a:ext uri="{FF2B5EF4-FFF2-40B4-BE49-F238E27FC236}">
                <a16:creationId xmlns:a16="http://schemas.microsoft.com/office/drawing/2014/main" id="{FAD50C75-916E-0F38-FEB1-A237C3E0790B}"/>
              </a:ext>
            </a:extLst>
          </p:cNvPr>
          <p:cNvSpPr/>
          <p:nvPr/>
        </p:nvSpPr>
        <p:spPr bwMode="auto">
          <a:xfrm>
            <a:off x="8600000" y="920000"/>
            <a:ext cx="3302417" cy="980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B · Business viability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Revenue, efficiency, cost reduction, competitive advantage, time to value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398" name="Rectangle 11397">
            <a:extLst>
              <a:ext uri="{FF2B5EF4-FFF2-40B4-BE49-F238E27FC236}">
                <a16:creationId xmlns:a16="http://schemas.microsoft.com/office/drawing/2014/main" id="{A17DB722-2482-3FF0-EAFB-9382B506A234}"/>
              </a:ext>
            </a:extLst>
          </p:cNvPr>
          <p:cNvSpPr/>
          <p:nvPr/>
        </p:nvSpPr>
        <p:spPr bwMode="auto">
          <a:xfrm>
            <a:off x="8580000" y="2560000"/>
            <a:ext cx="3342417" cy="1650000"/>
          </a:xfrm>
          <a:prstGeom prst="rect">
            <a:avLst/>
          </a:prstGeom>
          <a:solidFill>
            <a:srgbClr val="E3EEEF"/>
          </a:solidFill>
          <a:ln w="9525">
            <a:solidFill>
              <a:srgbClr val="E3EEE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418" name="Rectangle 11417">
            <a:extLst>
              <a:ext uri="{FF2B5EF4-FFF2-40B4-BE49-F238E27FC236}">
                <a16:creationId xmlns:a16="http://schemas.microsoft.com/office/drawing/2014/main" id="{5209B311-8E3F-1AEC-27BE-DF790E89E45D}"/>
              </a:ext>
            </a:extLst>
          </p:cNvPr>
          <p:cNvSpPr/>
          <p:nvPr/>
        </p:nvSpPr>
        <p:spPr bwMode="auto">
          <a:xfrm>
            <a:off x="8600000" y="2680000"/>
            <a:ext cx="3302417" cy="980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X · Experience viability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User-need fit, clear audience, motivation over today’s tools, adoption pain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439" name="Rectangle 11438">
            <a:extLst>
              <a:ext uri="{FF2B5EF4-FFF2-40B4-BE49-F238E27FC236}">
                <a16:creationId xmlns:a16="http://schemas.microsoft.com/office/drawing/2014/main" id="{D63535E3-0EA6-DDA3-04C6-7F7CFB2414E1}"/>
              </a:ext>
            </a:extLst>
          </p:cNvPr>
          <p:cNvSpPr/>
          <p:nvPr/>
        </p:nvSpPr>
        <p:spPr bwMode="auto">
          <a:xfrm>
            <a:off x="8580000" y="4320000"/>
            <a:ext cx="3342417" cy="1650000"/>
          </a:xfrm>
          <a:prstGeom prst="rect">
            <a:avLst/>
          </a:prstGeom>
          <a:solidFill>
            <a:srgbClr val="E3EEEF"/>
          </a:solidFill>
          <a:ln w="9525">
            <a:solidFill>
              <a:srgbClr val="E3EEE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461" name="Rectangle 11460">
            <a:extLst>
              <a:ext uri="{FF2B5EF4-FFF2-40B4-BE49-F238E27FC236}">
                <a16:creationId xmlns:a16="http://schemas.microsoft.com/office/drawing/2014/main" id="{E0EC5E5B-17DB-550F-16A5-123363D7D47B}"/>
              </a:ext>
            </a:extLst>
          </p:cNvPr>
          <p:cNvSpPr/>
          <p:nvPr/>
        </p:nvSpPr>
        <p:spPr bwMode="auto">
          <a:xfrm>
            <a:off x="8600000" y="4440000"/>
            <a:ext cx="3302417" cy="980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T · Technical viability</a:t>
            </a:r>
          </a:p>
          <a:p>
            <a:pPr algn="l">
              <a:buNone/>
            </a:pPr>
            <a:r>
              <a:rPr lang="en-US" sz="14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Skills, integration with existing systems, natural extension, AI accuracy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594" name="Rectangle 11593">
            <a:extLst>
              <a:ext uri="{FF2B5EF4-FFF2-40B4-BE49-F238E27FC236}">
                <a16:creationId xmlns:a16="http://schemas.microsoft.com/office/drawing/2014/main" id="{4FA902B7-176A-602C-1DF0-4A9E66D4DD81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Proposed scores (1–5) to validate with SATS · criteria detail in speaker notes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597" name="Rectangle 11596">
            <a:extLst>
              <a:ext uri="{FF2B5EF4-FFF2-40B4-BE49-F238E27FC236}">
                <a16:creationId xmlns:a16="http://schemas.microsoft.com/office/drawing/2014/main" id="{20B71401-EF3D-6399-B3E7-55138960902E}"/>
              </a:ext>
            </a:extLst>
          </p:cNvPr>
          <p:cNvSpPr/>
          <p:nvPr/>
        </p:nvSpPr>
        <p:spPr bwMode="auto">
          <a:xfrm>
            <a:off x="269583" y="3950000"/>
            <a:ext cx="8128000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Feasibility = average of experience and technical viability. Quadrants split at 3 on each axis.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23239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E9D0-7316-DAD2-469C-41DB3BF1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C6EC8326-7092-C7C8-67D0-1D0BC7E2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83" y="210678"/>
            <a:ext cx="8193024" cy="246221"/>
          </a:xfrm>
        </p:spPr>
        <p:txBody>
          <a:bodyPr/>
          <a:lstStyle/>
          <a:p>
            <a:r>
              <a:rPr lang="en-US" sz="1600" noProof="0"/>
              <a:t>Prioritization matrix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33DAC-89BA-6535-AAEF-79F11B24E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8627" y="919862"/>
            <a:ext cx="1962150" cy="470535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CF2BE9-E3BE-DA9F-F5F4-F684582C428A}"/>
              </a:ext>
            </a:extLst>
          </p:cNvPr>
          <p:cNvSpPr/>
          <p:nvPr/>
        </p:nvSpPr>
        <p:spPr bwMode="auto">
          <a:xfrm>
            <a:off x="352334" y="1024640"/>
            <a:ext cx="265176" cy="260922"/>
          </a:xfrm>
          <a:prstGeom prst="ellipse">
            <a:avLst/>
          </a:prstGeom>
          <a:solidFill>
            <a:srgbClr val="0078D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A8428-413C-6FA6-B13D-2EBA75D363F8}"/>
              </a:ext>
            </a:extLst>
          </p:cNvPr>
          <p:cNvSpPr txBox="1"/>
          <p:nvPr/>
        </p:nvSpPr>
        <p:spPr>
          <a:xfrm>
            <a:off x="352334" y="1285562"/>
            <a:ext cx="1606209" cy="424732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Operational data foundation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02F078-050F-5776-1D02-E386A851812F}"/>
              </a:ext>
            </a:extLst>
          </p:cNvPr>
          <p:cNvSpPr/>
          <p:nvPr/>
        </p:nvSpPr>
        <p:spPr bwMode="auto">
          <a:xfrm>
            <a:off x="352334" y="1957064"/>
            <a:ext cx="265176" cy="260922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8F9C8-50E6-07FC-0242-C3483751CE9C}"/>
              </a:ext>
            </a:extLst>
          </p:cNvPr>
          <p:cNvSpPr txBox="1"/>
          <p:nvPr/>
        </p:nvSpPr>
        <p:spPr>
          <a:xfrm>
            <a:off x="352334" y="2217986"/>
            <a:ext cx="1606209" cy="424732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operations control tower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84E7F8-040C-94A4-B3C0-4CB5F5CE20E2}"/>
              </a:ext>
            </a:extLst>
          </p:cNvPr>
          <p:cNvSpPr/>
          <p:nvPr/>
        </p:nvSpPr>
        <p:spPr bwMode="auto">
          <a:xfrm>
            <a:off x="352334" y="2889488"/>
            <a:ext cx="265176" cy="260922"/>
          </a:xfrm>
          <a:prstGeom prst="ellipse">
            <a:avLst/>
          </a:prstGeom>
          <a:solidFill>
            <a:srgbClr val="C03BC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87C46-DDF1-D7C9-FC25-A70FA6CDB1DF}"/>
              </a:ext>
            </a:extLst>
          </p:cNvPr>
          <p:cNvSpPr txBox="1"/>
          <p:nvPr/>
        </p:nvSpPr>
        <p:spPr>
          <a:xfrm>
            <a:off x="352334" y="3150410"/>
            <a:ext cx="1606209" cy="424732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Disruption prediction &amp; recovery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5081CD-B9C5-4F5C-72FF-110BAE15459C}"/>
              </a:ext>
            </a:extLst>
          </p:cNvPr>
          <p:cNvSpPr/>
          <p:nvPr/>
        </p:nvSpPr>
        <p:spPr bwMode="auto">
          <a:xfrm>
            <a:off x="352334" y="3821913"/>
            <a:ext cx="265176" cy="260922"/>
          </a:xfrm>
          <a:prstGeom prst="ellipse">
            <a:avLst/>
          </a:prstGeom>
          <a:solidFill>
            <a:srgbClr val="FFA38B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6872D9-9EDB-B00D-0359-6C87E9625B89}"/>
              </a:ext>
            </a:extLst>
          </p:cNvPr>
          <p:cNvSpPr txBox="1"/>
          <p:nvPr/>
        </p:nvSpPr>
        <p:spPr>
          <a:xfrm>
            <a:off x="352334" y="4082835"/>
            <a:ext cx="1606209" cy="424732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Ops copilot &amp; proactive updates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178597-83C7-1410-E7E3-9435DA522696}"/>
              </a:ext>
            </a:extLst>
          </p:cNvPr>
          <p:cNvSpPr/>
          <p:nvPr/>
        </p:nvSpPr>
        <p:spPr bwMode="auto">
          <a:xfrm>
            <a:off x="352334" y="4754337"/>
            <a:ext cx="265176" cy="260922"/>
          </a:xfrm>
          <a:prstGeom prst="ellipse">
            <a:avLst/>
          </a:prstGeom>
          <a:solidFill>
            <a:srgbClr val="8CE970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5C915-A465-AAE6-CAE3-53813EDBB1D0}"/>
              </a:ext>
            </a:extLst>
          </p:cNvPr>
          <p:cNvSpPr txBox="1"/>
          <p:nvPr/>
        </p:nvSpPr>
        <p:spPr>
          <a:xfrm>
            <a:off x="352334" y="5015259"/>
            <a:ext cx="1606209" cy="424732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Connected GSE &amp; assets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3C353-0938-1780-975F-A0E4E7C43856}"/>
              </a:ext>
            </a:extLst>
          </p:cNvPr>
          <p:cNvSpPr/>
          <p:nvPr/>
        </p:nvSpPr>
        <p:spPr bwMode="auto">
          <a:xfrm>
            <a:off x="2546864" y="1026030"/>
            <a:ext cx="397125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rgbClr val="000000"/>
                </a:solidFill>
                <a:latin typeface="Segoe UI Semibold"/>
              </a:rPr>
              <a:t>High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DA8E5-9426-9492-37E2-0C481E59D411}"/>
              </a:ext>
            </a:extLst>
          </p:cNvPr>
          <p:cNvSpPr/>
          <p:nvPr/>
        </p:nvSpPr>
        <p:spPr bwMode="auto">
          <a:xfrm>
            <a:off x="10715028" y="5433444"/>
            <a:ext cx="397125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High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12E47F-CDE9-0B89-D219-886DC0922531}"/>
              </a:ext>
            </a:extLst>
          </p:cNvPr>
          <p:cNvSpPr/>
          <p:nvPr/>
        </p:nvSpPr>
        <p:spPr bwMode="auto">
          <a:xfrm>
            <a:off x="3063882" y="5433444"/>
            <a:ext cx="338292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47342-28D4-8791-D6E6-4FEEA8111672}"/>
              </a:ext>
            </a:extLst>
          </p:cNvPr>
          <p:cNvSpPr/>
          <p:nvPr/>
        </p:nvSpPr>
        <p:spPr bwMode="auto">
          <a:xfrm>
            <a:off x="2605697" y="5097932"/>
            <a:ext cx="338292" cy="18466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>
                <a:solidFill>
                  <a:srgbClr val="000000"/>
                </a:solidFill>
                <a:latin typeface="Segoe UI Semibold"/>
              </a:rPr>
              <a:t>Low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7031C-F01A-E736-E29E-7F4C78147645}"/>
              </a:ext>
            </a:extLst>
          </p:cNvPr>
          <p:cNvSpPr/>
          <p:nvPr/>
        </p:nvSpPr>
        <p:spPr bwMode="auto">
          <a:xfrm>
            <a:off x="2741833" y="1839988"/>
            <a:ext cx="184666" cy="259679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vert="vert270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Value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FB351-F7AC-E6C4-3237-AE707A56C3F3}"/>
              </a:ext>
            </a:extLst>
          </p:cNvPr>
          <p:cNvSpPr/>
          <p:nvPr/>
        </p:nvSpPr>
        <p:spPr bwMode="auto">
          <a:xfrm>
            <a:off x="6052061" y="5433444"/>
            <a:ext cx="2071912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Feasibility</a:t>
            </a:r>
          </a:p>
        </p:txBody>
      </p:sp>
      <p:sp>
        <p:nvSpPr>
          <p:cNvPr id="20" name="Oval 32">
            <a:extLst>
              <a:ext uri="{FF2B5EF4-FFF2-40B4-BE49-F238E27FC236}">
                <a16:creationId xmlns:a16="http://schemas.microsoft.com/office/drawing/2014/main" id="{6D2E687D-4E98-79E8-3EF7-2F58E498E24C}"/>
              </a:ext>
            </a:extLst>
          </p:cNvPr>
          <p:cNvSpPr>
            <a:spLocks/>
          </p:cNvSpPr>
          <p:nvPr/>
        </p:nvSpPr>
        <p:spPr bwMode="auto">
          <a:xfrm>
            <a:off x="3036227" y="919862"/>
            <a:ext cx="8210370" cy="4437049"/>
          </a:xfrm>
          <a:prstGeom prst="rect">
            <a:avLst/>
          </a:prstGeom>
          <a:solidFill>
            <a:schemeClr val="bg1">
              <a:lumMod val="95000"/>
              <a:alpha val="33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2" name="Oval 32_1">
            <a:extLst>
              <a:ext uri="{FF2B5EF4-FFF2-40B4-BE49-F238E27FC236}">
                <a16:creationId xmlns:a16="http://schemas.microsoft.com/office/drawing/2014/main" id="{6961F990-13F2-15CA-8042-A6824E58D34B}"/>
              </a:ext>
            </a:extLst>
          </p:cNvPr>
          <p:cNvSpPr>
            <a:spLocks/>
          </p:cNvSpPr>
          <p:nvPr/>
        </p:nvSpPr>
        <p:spPr bwMode="auto">
          <a:xfrm>
            <a:off x="3063882" y="990624"/>
            <a:ext cx="3977524" cy="210706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Oval 32_1">
            <a:extLst>
              <a:ext uri="{FF2B5EF4-FFF2-40B4-BE49-F238E27FC236}">
                <a16:creationId xmlns:a16="http://schemas.microsoft.com/office/drawing/2014/main" id="{87EF7CC7-0207-CFC7-2EC2-CC24DFFFC7F1}"/>
              </a:ext>
            </a:extLst>
          </p:cNvPr>
          <p:cNvSpPr>
            <a:spLocks/>
          </p:cNvSpPr>
          <p:nvPr/>
        </p:nvSpPr>
        <p:spPr bwMode="auto">
          <a:xfrm>
            <a:off x="7134629" y="990624"/>
            <a:ext cx="3977524" cy="210706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Oval 32_1">
            <a:extLst>
              <a:ext uri="{FF2B5EF4-FFF2-40B4-BE49-F238E27FC236}">
                <a16:creationId xmlns:a16="http://schemas.microsoft.com/office/drawing/2014/main" id="{4DF96E6A-BCB4-1FCD-18EB-009E11205C46}"/>
              </a:ext>
            </a:extLst>
          </p:cNvPr>
          <p:cNvSpPr>
            <a:spLocks/>
          </p:cNvSpPr>
          <p:nvPr/>
        </p:nvSpPr>
        <p:spPr bwMode="auto">
          <a:xfrm>
            <a:off x="3063882" y="3179082"/>
            <a:ext cx="3977524" cy="210706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4" name="Oval 32_1">
            <a:extLst>
              <a:ext uri="{FF2B5EF4-FFF2-40B4-BE49-F238E27FC236}">
                <a16:creationId xmlns:a16="http://schemas.microsoft.com/office/drawing/2014/main" id="{01261D4C-0A2A-073F-83FC-457D2C1E4483}"/>
              </a:ext>
            </a:extLst>
          </p:cNvPr>
          <p:cNvSpPr>
            <a:spLocks/>
          </p:cNvSpPr>
          <p:nvPr/>
        </p:nvSpPr>
        <p:spPr bwMode="auto">
          <a:xfrm>
            <a:off x="7134629" y="3179082"/>
            <a:ext cx="3977524" cy="210706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CCD589-0F3D-1760-9623-12B50B3D5EA5}"/>
              </a:ext>
            </a:extLst>
          </p:cNvPr>
          <p:cNvSpPr/>
          <p:nvPr/>
        </p:nvSpPr>
        <p:spPr bwMode="auto">
          <a:xfrm>
            <a:off x="5633325" y="990625"/>
            <a:ext cx="1408080" cy="245397"/>
          </a:xfrm>
          <a:prstGeom prst="rect">
            <a:avLst/>
          </a:prstGeom>
          <a:solidFill>
            <a:schemeClr val="bg2"/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Invest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7F422E-2F82-C14A-C2D3-8CBEF5645B1A}"/>
              </a:ext>
            </a:extLst>
          </p:cNvPr>
          <p:cNvSpPr/>
          <p:nvPr/>
        </p:nvSpPr>
        <p:spPr bwMode="auto">
          <a:xfrm>
            <a:off x="9704073" y="3179083"/>
            <a:ext cx="1408080" cy="245397"/>
          </a:xfrm>
          <a:prstGeom prst="rect">
            <a:avLst/>
          </a:prstGeom>
          <a:solidFill>
            <a:schemeClr val="bg2"/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Test and learn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C039D9-60E8-8655-743C-8B051BD290D7}"/>
              </a:ext>
            </a:extLst>
          </p:cNvPr>
          <p:cNvSpPr/>
          <p:nvPr/>
        </p:nvSpPr>
        <p:spPr bwMode="auto">
          <a:xfrm>
            <a:off x="9704073" y="990625"/>
            <a:ext cx="1408080" cy="245397"/>
          </a:xfrm>
          <a:prstGeom prst="rect">
            <a:avLst/>
          </a:prstGeom>
          <a:solidFill>
            <a:schemeClr val="bg2"/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Quick wins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367E03-941C-7E51-DE12-0FD2C26EAE73}"/>
              </a:ext>
            </a:extLst>
          </p:cNvPr>
          <p:cNvSpPr/>
          <p:nvPr/>
        </p:nvSpPr>
        <p:spPr bwMode="auto">
          <a:xfrm>
            <a:off x="5633325" y="3179083"/>
            <a:ext cx="1408080" cy="245397"/>
          </a:xfrm>
          <a:prstGeom prst="rect">
            <a:avLst/>
          </a:prstGeom>
          <a:solidFill>
            <a:schemeClr val="bg2"/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Parked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F78A35-EA1F-BF02-44DA-7A9EB4EBBE9B}"/>
              </a:ext>
            </a:extLst>
          </p:cNvPr>
          <p:cNvSpPr/>
          <p:nvPr/>
        </p:nvSpPr>
        <p:spPr bwMode="auto">
          <a:xfrm>
            <a:off x="3063882" y="990818"/>
            <a:ext cx="289590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DDE541B-A414-FBDA-89FB-8A61DEB7C084}"/>
              </a:ext>
            </a:extLst>
          </p:cNvPr>
          <p:cNvSpPr/>
          <p:nvPr/>
        </p:nvSpPr>
        <p:spPr bwMode="auto">
          <a:xfrm>
            <a:off x="3063882" y="1913060"/>
            <a:ext cx="294494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578F1E-F740-282B-82E5-78DA83664944}"/>
              </a:ext>
            </a:extLst>
          </p:cNvPr>
          <p:cNvSpPr/>
          <p:nvPr/>
        </p:nvSpPr>
        <p:spPr bwMode="auto">
          <a:xfrm>
            <a:off x="3063882" y="3012159"/>
            <a:ext cx="289590" cy="262196"/>
          </a:xfrm>
          <a:prstGeom prst="rect">
            <a:avLst/>
          </a:prstGeom>
          <a:solidFill>
            <a:schemeClr val="bg1"/>
          </a:solidFill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3CD648-C602-2EEE-8CA7-AE167F697525}"/>
              </a:ext>
            </a:extLst>
          </p:cNvPr>
          <p:cNvSpPr/>
          <p:nvPr/>
        </p:nvSpPr>
        <p:spPr bwMode="auto">
          <a:xfrm>
            <a:off x="3063882" y="4140626"/>
            <a:ext cx="289590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100" noProof="0">
                <a:solidFill>
                  <a:srgbClr val="000000"/>
                </a:solidFill>
                <a:latin typeface="Segoe UI"/>
              </a:rPr>
              <a:t>2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5A1C98-3570-F53D-5E84-A5F933C1D368}"/>
              </a:ext>
            </a:extLst>
          </p:cNvPr>
          <p:cNvSpPr/>
          <p:nvPr/>
        </p:nvSpPr>
        <p:spPr bwMode="auto">
          <a:xfrm>
            <a:off x="3063882" y="4947428"/>
            <a:ext cx="435877" cy="430887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100" noProof="0">
                <a:solidFill>
                  <a:srgbClr val="000000"/>
                </a:solidFill>
                <a:latin typeface="Segoe UI"/>
              </a:rPr>
              <a:t>1</a:t>
            </a:r>
            <a:br>
              <a:rPr lang="en-US" sz="1100" noProof="0">
                <a:solidFill>
                  <a:srgbClr val="000000"/>
                </a:solidFill>
                <a:latin typeface="Segoe UI"/>
              </a:rPr>
            </a:br>
            <a:r>
              <a:rPr lang="en-US" sz="1100" noProof="0">
                <a:solidFill>
                  <a:srgbClr val="000000"/>
                </a:solidFill>
                <a:latin typeface="Segoe UI"/>
              </a:rPr>
              <a:t>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8C1526B-308F-9EF6-2118-0A53B668DB5D}"/>
              </a:ext>
            </a:extLst>
          </p:cNvPr>
          <p:cNvSpPr/>
          <p:nvPr/>
        </p:nvSpPr>
        <p:spPr bwMode="auto">
          <a:xfrm>
            <a:off x="5093870" y="5031773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4A103F-1F21-C400-BFE4-A26C3F220831}"/>
              </a:ext>
            </a:extLst>
          </p:cNvPr>
          <p:cNvSpPr/>
          <p:nvPr/>
        </p:nvSpPr>
        <p:spPr bwMode="auto">
          <a:xfrm>
            <a:off x="6957113" y="5023953"/>
            <a:ext cx="261809" cy="262196"/>
          </a:xfrm>
          <a:prstGeom prst="rect">
            <a:avLst/>
          </a:prstGeom>
          <a:solidFill>
            <a:schemeClr val="bg1"/>
          </a:solidFill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3E2AAF-01C5-7FEF-5C41-691705C5FD5E}"/>
              </a:ext>
            </a:extLst>
          </p:cNvPr>
          <p:cNvSpPr/>
          <p:nvPr/>
        </p:nvSpPr>
        <p:spPr bwMode="auto">
          <a:xfrm>
            <a:off x="9053517" y="5031773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141DD8-96FC-AE14-4EA2-D2D785B82220}"/>
              </a:ext>
            </a:extLst>
          </p:cNvPr>
          <p:cNvSpPr/>
          <p:nvPr/>
        </p:nvSpPr>
        <p:spPr bwMode="auto">
          <a:xfrm>
            <a:off x="10850344" y="5031773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0D5A04A-AC98-5F07-1A4C-880D1701AA57}"/>
              </a:ext>
            </a:extLst>
          </p:cNvPr>
          <p:cNvSpPr/>
          <p:nvPr/>
        </p:nvSpPr>
        <p:spPr bwMode="auto">
          <a:xfrm>
            <a:off x="8125559" y="2703610"/>
            <a:ext cx="440000" cy="440000"/>
          </a:xfrm>
          <a:prstGeom prst="ellipse">
            <a:avLst/>
          </a:prstGeom>
          <a:solidFill>
            <a:srgbClr val="0078D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1CEBA83-18D8-CCA8-5639-A7E5B99B23C7}"/>
              </a:ext>
            </a:extLst>
          </p:cNvPr>
          <p:cNvSpPr/>
          <p:nvPr/>
        </p:nvSpPr>
        <p:spPr bwMode="auto">
          <a:xfrm>
            <a:off x="9131593" y="1629729"/>
            <a:ext cx="440000" cy="440000"/>
          </a:xfrm>
          <a:prstGeom prst="ellipse">
            <a:avLst/>
          </a:prstGeom>
          <a:solidFill>
            <a:srgbClr val="225B62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0E063E2-0D6E-640B-0080-659EB1AE7E06}"/>
              </a:ext>
            </a:extLst>
          </p:cNvPr>
          <p:cNvSpPr/>
          <p:nvPr/>
        </p:nvSpPr>
        <p:spPr bwMode="auto">
          <a:xfrm>
            <a:off x="6616509" y="1844505"/>
            <a:ext cx="440000" cy="440000"/>
          </a:xfrm>
          <a:prstGeom prst="ellipse">
            <a:avLst/>
          </a:prstGeom>
          <a:solidFill>
            <a:srgbClr val="C03BC4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77D7567-39C7-A63E-A950-9C46F638E988}"/>
              </a:ext>
            </a:extLst>
          </p:cNvPr>
          <p:cNvSpPr/>
          <p:nvPr/>
        </p:nvSpPr>
        <p:spPr bwMode="auto">
          <a:xfrm>
            <a:off x="8377068" y="2274057"/>
            <a:ext cx="440000" cy="440000"/>
          </a:xfrm>
          <a:prstGeom prst="ellipse">
            <a:avLst/>
          </a:prstGeom>
          <a:solidFill>
            <a:srgbClr val="FFA38B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4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4626665-F7F4-8F9E-8949-912797306BFC}"/>
              </a:ext>
            </a:extLst>
          </p:cNvPr>
          <p:cNvSpPr/>
          <p:nvPr/>
        </p:nvSpPr>
        <p:spPr bwMode="auto">
          <a:xfrm>
            <a:off x="7622542" y="3133162"/>
            <a:ext cx="440000" cy="440000"/>
          </a:xfrm>
          <a:prstGeom prst="ellipse">
            <a:avLst/>
          </a:prstGeom>
          <a:solidFill>
            <a:srgbClr val="8CE970"/>
          </a:solidFill>
          <a:ln w="381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Segoe UI" pitchFamily="34" charset="0"/>
                <a:cs typeface="Segoe UI" pitchFamily="34" charset="0"/>
              </a:rPr>
              <a:t>5</a:t>
            </a:r>
          </a:p>
        </p:txBody>
      </p:sp>
      <p:sp>
        <p:nvSpPr>
          <p:cNvPr id="11082" name="Rectangle 11081">
            <a:extLst>
              <a:ext uri="{FF2B5EF4-FFF2-40B4-BE49-F238E27FC236}">
                <a16:creationId xmlns:a16="http://schemas.microsoft.com/office/drawing/2014/main" id="{FF6C5E90-D5EA-D0E9-F40B-310346590BBD}"/>
              </a:ext>
            </a:extLst>
          </p:cNvPr>
          <p:cNvSpPr/>
          <p:nvPr/>
        </p:nvSpPr>
        <p:spPr bwMode="auto">
          <a:xfrm>
            <a:off x="2982832" y="5750000"/>
            <a:ext cx="8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Value = business viability; feasibility = average of experience and technical viability (BXT, 1–5). Proposed scores — to validate with SATS.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7075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7487-FEE4-91A2-9F78-33DC8AA5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FF035E12-3966-82C2-7180-D675BDED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81" y="210678"/>
            <a:ext cx="8193024" cy="246221"/>
          </a:xfrm>
        </p:spPr>
        <p:txBody>
          <a:bodyPr/>
          <a:lstStyle/>
          <a:p>
            <a:r>
              <a:rPr lang="en-US" sz="1600" noProof="0"/>
              <a:t>Next steps</a:t>
            </a:r>
          </a:p>
        </p:txBody>
      </p:sp>
      <p:sp>
        <p:nvSpPr>
          <p:cNvPr id="11156" name="Rectangle 11155">
            <a:extLst>
              <a:ext uri="{FF2B5EF4-FFF2-40B4-BE49-F238E27FC236}">
                <a16:creationId xmlns:a16="http://schemas.microsoft.com/office/drawing/2014/main" id="{44F2C1EA-78B9-D347-834C-D499BA3AC0D8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Each owner to confirm acceptance of their step and date in writing (email or Teams). Dates are proposals.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8EBA0E-8256-4231-B58C-018B7356914C}"/>
              </a:ext>
            </a:extLst>
          </p:cNvPr>
          <p:cNvGraphicFramePr>
            <a:graphicFrameLocks noGrp="1"/>
          </p:cNvGraphicFramePr>
          <p:nvPr/>
        </p:nvGraphicFramePr>
        <p:xfrm>
          <a:off x="269583" y="800000"/>
          <a:ext cx="8127999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349373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266697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03563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Next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Target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976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All — share output; confirm each step in 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Innovation Hub 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4 Nov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5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All — validate BXT scores and KR baselines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SATS COO office + Hub 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13 Nov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UC1 — data-source inventory; EDH-to-Fabric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SATS Data Lead + Microsoft Data &amp;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20 Nov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7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UC2, UC4 — solution envisioning at the 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Hub TA + SATS Control Tower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27 Nov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6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UC4 — prototype ops assistant on SOPs and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SATS Customer Service Lead + partner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11 Dec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50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UC3 — extract 12–24 months of disruption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SATS Data Lead + SIOC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18 Dec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85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UC5 — scope a connected-cart pilot at one pier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SATS Fleet / Asset 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15 Jan 2027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158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All — agree funding, partner and sponsor sign-off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Microsoft AE + SATS 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22 Jan 2027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023102"/>
                  </a:ext>
                </a:extLst>
              </a:tr>
            </a:tbl>
          </a:graphicData>
        </a:graphic>
      </p:graphicFrame>
      <p:sp>
        <p:nvSpPr>
          <p:cNvPr id="11509" name="Rectangle 11508">
            <a:extLst>
              <a:ext uri="{FF2B5EF4-FFF2-40B4-BE49-F238E27FC236}">
                <a16:creationId xmlns:a16="http://schemas.microsoft.com/office/drawing/2014/main" id="{F5539D8D-68C5-58AF-C702-7B747047E722}"/>
              </a:ext>
            </a:extLst>
          </p:cNvPr>
          <p:cNvSpPr/>
          <p:nvPr/>
        </p:nvSpPr>
        <p:spPr bwMode="auto">
          <a:xfrm>
            <a:off x="8580000" y="800000"/>
            <a:ext cx="3342417" cy="5300000"/>
          </a:xfrm>
          <a:prstGeom prst="rect">
            <a:avLst/>
          </a:prstGeom>
          <a:solidFill>
            <a:srgbClr val="225B62"/>
          </a:solidFill>
          <a:ln w="9525">
            <a:solidFill>
              <a:srgbClr val="225B62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FB9E189F-B927-5640-9F31-313EA1A18E29}"/>
              </a:ext>
            </a:extLst>
          </p:cNvPr>
          <p:cNvSpPr/>
          <p:nvPr/>
        </p:nvSpPr>
        <p:spPr bwMode="auto">
          <a:xfrm>
            <a:off x="8680000" y="2039030"/>
            <a:ext cx="3142417" cy="369935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OVERALL TIMEFRAME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1 · Data foundation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4–6 months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2 · Control tower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4–6 months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3 · Disruption prediction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&gt; 6 months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4 · Ops copilot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1–3 months</a:t>
            </a:r>
          </a:p>
          <a:p>
            <a:pPr algn="l">
              <a:buNone/>
            </a:pPr>
            <a:r>
              <a:rPr lang="en-US" sz="600">
                <a:solidFill>
                  <a:srgbClr val="C3C7CA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5 · Connected GSE</a:t>
            </a:r>
          </a:p>
          <a:p>
            <a:pPr algn="l">
              <a:buNone/>
            </a:pPr>
            <a:r>
              <a:rPr lang="en-US" sz="1200">
                <a:solidFill>
                  <a:srgbClr val="CFE3E5"/>
                </a:solidFill>
                <a:effectLst/>
                <a:latin typeface="Segoe UI" panose="020B0502040204020203" pitchFamily="34" charset="0"/>
              </a:rPr>
              <a:t>4–6 months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5439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D4A8-1017-99C9-576A-6D076A7ED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7052C2EB-C44E-E0DF-F466-8DF3B92D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81" y="210678"/>
            <a:ext cx="8193024" cy="246221"/>
          </a:xfrm>
        </p:spPr>
        <p:txBody>
          <a:bodyPr/>
          <a:lstStyle/>
          <a:p>
            <a:r>
              <a:rPr lang="en-US" sz="1600" noProof="0"/>
              <a:t>Parking lot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3EADB-4B39-400F-BA53-98515569BEEC}"/>
              </a:ext>
            </a:extLst>
          </p:cNvPr>
          <p:cNvGraphicFramePr>
            <a:graphicFrameLocks noGrp="1"/>
          </p:cNvGraphicFramePr>
          <p:nvPr/>
        </p:nvGraphicFramePr>
        <p:xfrm>
          <a:off x="269583" y="780000"/>
          <a:ext cx="8127999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454491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9489418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82571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Evidence of value and feasibility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01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6 · Stand and resource allocation optimiser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AI optimisation of stand and task allocation under hard and soft constraints, re-run as conditions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Reference: a Middle East airport stand-planning optimiser (~9,300 variables, ~17,600 constraints, ~200 live messages per second). Overlaps use case 3; needs CAG data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196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7 · Turnaround milestones from video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Airside video analytics auto-captures turnaround events (chocks on, doors, loading) to feed the control tower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Airside video analytics already in the SATS blueprint; needs camera coverage, privacy and CAG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33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8 · Digitise analog processes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Low-code apps replace paper, radio and chat-based logs so the data lands in EDH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SPEAR initiative; high feasibility, value mainly as a data enabler for use cases 1 and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138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9 · Autonomous equipment orchestration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Dispatch and monitor AV tractors, AV buses and auto-dollies from the control tower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Automation in the SATS blueprint; depends on vendor interfaces and safety certification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43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10 · Demand-driven workforce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Link GroundStar planning and rostering to predicted demand and disruption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Segoe UI" panose="020B0502040204020203" pitchFamily="34" charset="0"/>
                        </a:rPr>
                        <a:t>Addresses manpower shortage; depends on GroundStar integration and HR / union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94274"/>
                  </a:ext>
                </a:extLst>
              </a:tr>
            </a:tbl>
          </a:graphicData>
        </a:graphic>
      </p:graphicFrame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05490699-9BA8-9FFF-CBC7-EFFADB17EC5F}"/>
              </a:ext>
            </a:extLst>
          </p:cNvPr>
          <p:cNvSpPr/>
          <p:nvPr/>
        </p:nvSpPr>
        <p:spPr bwMode="auto">
          <a:xfrm>
            <a:off x="269583" y="6400000"/>
            <a:ext cx="90000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5B6670"/>
                </a:solidFill>
                <a:effectLst/>
                <a:latin typeface="Segoe UI" panose="020B0502040204020203" pitchFamily="34" charset="0"/>
              </a:rPr>
              <a:t>Reference figures from case studies in SATS Project SPEAR Playback #1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562" name="Rectangle 11561">
            <a:extLst>
              <a:ext uri="{FF2B5EF4-FFF2-40B4-BE49-F238E27FC236}">
                <a16:creationId xmlns:a16="http://schemas.microsoft.com/office/drawing/2014/main" id="{FE075563-6863-6D94-E36A-171311546214}"/>
              </a:ext>
            </a:extLst>
          </p:cNvPr>
          <p:cNvSpPr/>
          <p:nvPr/>
        </p:nvSpPr>
        <p:spPr bwMode="auto">
          <a:xfrm>
            <a:off x="8580000" y="800000"/>
            <a:ext cx="3342417" cy="3840000"/>
          </a:xfrm>
          <a:prstGeom prst="rect">
            <a:avLst/>
          </a:prstGeom>
          <a:solidFill>
            <a:srgbClr val="E3EEEF"/>
          </a:solidFill>
          <a:ln w="9525">
            <a:solidFill>
              <a:srgbClr val="E3EEE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590" name="Rectangle 11589">
            <a:extLst>
              <a:ext uri="{FF2B5EF4-FFF2-40B4-BE49-F238E27FC236}">
                <a16:creationId xmlns:a16="http://schemas.microsoft.com/office/drawing/2014/main" id="{FB319472-A0CB-2954-4FC5-D00816418B4D}"/>
              </a:ext>
            </a:extLst>
          </p:cNvPr>
          <p:cNvSpPr/>
          <p:nvPr/>
        </p:nvSpPr>
        <p:spPr bwMode="auto">
          <a:xfrm>
            <a:off x="8680000" y="1705905"/>
            <a:ext cx="3142417" cy="202819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225B62"/>
                </a:solidFill>
                <a:effectLst/>
                <a:latin typeface="Segoe UI" panose="020B0502040204020203" pitchFamily="34" charset="0"/>
              </a:rPr>
              <a:t>HOW TO ADVANCE THESE</a:t>
            </a:r>
          </a:p>
          <a:p>
            <a:pPr algn="l">
              <a:buNone/>
            </a:pPr>
            <a:r>
              <a:rPr lang="en-US" sz="6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Revisit at solution envisioning. Each needs an owner and a data check before BXT scoring.</a:t>
            </a:r>
          </a:p>
          <a:p>
            <a:pPr algn="l">
              <a:buNone/>
            </a:pPr>
            <a:r>
              <a:rPr lang="en-US" sz="600">
                <a:solidFill>
                  <a:srgbClr val="2B3A44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1400">
                <a:solidFill>
                  <a:srgbClr val="091F2C"/>
                </a:solidFill>
                <a:effectLst/>
                <a:latin typeface="Segoe UI" panose="020B0502040204020203" pitchFamily="34" charset="0"/>
              </a:rPr>
              <a:t>Candidates 6 and 7 extend use cases 3 and 2 once the data foundation is live.</a:t>
            </a: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4168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MODE">
  <a:themeElements>
    <a:clrScheme name="Microsoft Innovation Hub - Dark Mode">
      <a:dk1>
        <a:srgbClr val="091F2C"/>
      </a:dk1>
      <a:lt1>
        <a:srgbClr val="FFFFFF"/>
      </a:lt1>
      <a:dk2>
        <a:srgbClr val="091F2D"/>
      </a:dk2>
      <a:lt2>
        <a:srgbClr val="FFF8F3"/>
      </a:lt2>
      <a:accent1>
        <a:srgbClr val="FFA38B"/>
      </a:accent1>
      <a:accent2>
        <a:srgbClr val="C2B4E2"/>
      </a:accent2>
      <a:accent3>
        <a:srgbClr val="BF3AC5"/>
      </a:accent3>
      <a:accent4>
        <a:srgbClr val="0077D3"/>
      </a:accent4>
      <a:accent5>
        <a:srgbClr val="8DC7E8"/>
      </a:accent5>
      <a:accent6>
        <a:srgbClr val="8CE970"/>
      </a:accent6>
      <a:hlink>
        <a:srgbClr val="8CC7E7"/>
      </a:hlink>
      <a:folHlink>
        <a:srgbClr val="8CC7E7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Hub PowerPoint template" id="{B1842E4E-AA3A-4CD1-955F-41446F1BDF03}" vid="{F1BBA6D9-45D7-4064-99B7-D1600420D1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A09DCB8AB4D54CA1B5C81BF0718B90" ma:contentTypeVersion="25" ma:contentTypeDescription="Create a new document." ma:contentTypeScope="" ma:versionID="12950262bcc0717e4f4999f762ca01aa">
  <xsd:schema xmlns:xsd="http://www.w3.org/2001/XMLSchema" xmlns:xs="http://www.w3.org/2001/XMLSchema" xmlns:p="http://schemas.microsoft.com/office/2006/metadata/properties" xmlns:ns1="http://schemas.microsoft.com/sharepoint/v3" xmlns:ns2="dd007887-bffa-49f9-8735-ccb28e6c1a7e" xmlns:ns3="b3a60918-894d-4d02-b49f-373731c36e68" xmlns:ns4="230e9df3-be65-4c73-a93b-d1236ebd677e" targetNamespace="http://schemas.microsoft.com/office/2006/metadata/properties" ma:root="true" ma:fieldsID="b79c07d1a79a8840c128b691f2e5a6b0" ns1:_="" ns2:_="" ns3:_="" ns4:_="">
    <xsd:import namespace="http://schemas.microsoft.com/sharepoint/v3"/>
    <xsd:import namespace="dd007887-bffa-49f9-8735-ccb28e6c1a7e"/>
    <xsd:import namespace="b3a60918-894d-4d02-b49f-373731c36e68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Tag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07887-bffa-49f9-8735-ccb28e6c1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g" ma:index="18" nillable="true" ma:displayName="Tag" ma:description="Used to highlight content on the homepage and section pages" ma:format="Dropdown" ma:internalName="Tag">
      <xsd:simpleType>
        <xsd:restriction base="dms:Text">
          <xsd:maxLength value="255"/>
        </xsd:restriction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7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  <xsd:element name="HasDigitalSignature" ma:index="30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1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60918-894d-4d02-b49f-373731c36e6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4d1a165a-46f0-4234-b674-5637b751b181}" ma:internalName="TaxCatchAll" ma:showField="CatchAllData" ma:web="b3a60918-894d-4d02-b49f-373731c36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dd007887-bffa-49f9-8735-ccb28e6c1a7e">
      <Terms xmlns="http://schemas.microsoft.com/office/infopath/2007/PartnerControls"/>
    </lcf76f155ced4ddcb4097134ff3c332f>
    <_ip_UnifiedCompliancePolicyProperties xmlns="http://schemas.microsoft.com/sharepoint/v3" xsi:nil="true"/>
    <Tag xmlns="dd007887-bffa-49f9-8735-ccb28e6c1a7e" xsi:nil="true"/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764BE8DC-4F55-4822-8C1A-3E6A7D8D0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23088B-98A4-431E-9444-942F43FFDDF7}">
  <ds:schemaRefs>
    <ds:schemaRef ds:uri="230e9df3-be65-4c73-a93b-d1236ebd677e"/>
    <ds:schemaRef ds:uri="b3a60918-894d-4d02-b49f-373731c36e68"/>
    <ds:schemaRef ds:uri="dd007887-bffa-49f9-8735-ccb28e6c1a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E39443-9EDD-41EC-B7E9-2E9D49508AC8}">
  <ds:schemaRefs>
    <ds:schemaRef ds:uri="230e9df3-be65-4c73-a93b-d1236ebd677e"/>
    <ds:schemaRef ds:uri="b3a60918-894d-4d02-b49f-373731c36e68"/>
    <ds:schemaRef ds:uri="dd007887-bffa-49f9-8735-ccb28e6c1a7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5072</Words>
  <Application>Microsoft Office PowerPoint</Application>
  <PresentationFormat>ワイド画面</PresentationFormat>
  <Paragraphs>640</Paragraphs>
  <Slides>18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Aptos</vt:lpstr>
      <vt:lpstr>Arial</vt:lpstr>
      <vt:lpstr>Segoe UI</vt:lpstr>
      <vt:lpstr>Segoe UI Semibold</vt:lpstr>
      <vt:lpstr>Wingdings</vt:lpstr>
      <vt:lpstr>LIGHT MODE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Unified operational data foundation</vt:lpstr>
      <vt:lpstr>Unified operational data foundation</vt:lpstr>
      <vt:lpstr>AI operations control tower</vt:lpstr>
      <vt:lpstr>AI operations control tower</vt:lpstr>
      <vt:lpstr>Disruption prediction and recovery optimiser</vt:lpstr>
      <vt:lpstr>Disruption prediction and recovery optimiser</vt:lpstr>
      <vt:lpstr>Operations copilot and proactive customer updates</vt:lpstr>
      <vt:lpstr>Operations copilot and proactive customer updates</vt:lpstr>
      <vt:lpstr>Connected GSE and asset utilisation</vt:lpstr>
      <vt:lpstr>Connected GSE and asset utilisation</vt:lpstr>
      <vt:lpstr>PowerPoint プレゼンテーション</vt:lpstr>
      <vt:lpstr>Prioritization matrix</vt:lpstr>
      <vt:lpstr>Next steps</vt:lpstr>
      <vt:lpstr>Parking 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Powlo (Innovation Hub)</dc:creator>
  <cp:lastModifiedBy>Daiyu Hatakeyama</cp:lastModifiedBy>
  <cp:revision>2</cp:revision>
  <dcterms:created xsi:type="dcterms:W3CDTF">2025-03-19T14:08:37Z</dcterms:created>
  <dcterms:modified xsi:type="dcterms:W3CDTF">2026-10-28T02:05:39Z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0x010100E0A09DCB8AB4D54CA1B5C81BF0718B90</vt:lpwstr>
  </property>
  <property fmtid="{D5CDD505-2E9C-101B-9397-08002B2CF9AE}" pid="3" name="MediaServiceImageTags">
    <vt:lpwstr/>
  </property>
</Properties>
</file>